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1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" y="1005840"/>
            <a:ext cx="12124944" cy="365760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" y="1005840"/>
            <a:ext cx="54864" cy="3657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34472" y="777240"/>
            <a:ext cx="1097280" cy="10972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17352" y="4297680"/>
            <a:ext cx="731520" cy="731520"/>
          </a:xfrm>
          <a:prstGeom prst="ellipse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11274552" cy="8686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AI-Powered Process Scheduling</a:t>
            </a:r>
            <a:endParaRPr sz="4400"/>
          </a:p>
        </p:txBody>
      </p:sp>
      <p:sp>
        <p:nvSpPr>
          <p:cNvPr id="9" name="TextBox 8"/>
          <p:cNvSpPr txBox="1"/>
          <p:nvPr/>
        </p:nvSpPr>
        <p:spPr>
          <a:xfrm>
            <a:off x="457200" y="2441448"/>
            <a:ext cx="11274552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000" b="0" i="0">
                <a:solidFill>
                  <a:srgbClr val="00C9A7"/>
                </a:solidFill>
              </a:rPr>
              <a:t>Enhancing CPU Scheduling using Machine Learning &amp; Reinforcement Learning</a:t>
            </a:r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3215488" y="3127248"/>
            <a:ext cx="576072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310128"/>
            <a:ext cx="11274552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800" b="0" i="0" dirty="0">
                <a:solidFill>
                  <a:srgbClr val="CCD6E0"/>
                </a:solidFill>
              </a:rPr>
              <a:t> Operating Systems</a:t>
            </a:r>
            <a:endParaRPr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3721608"/>
            <a:ext cx="11274552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 Department of Computer Science &amp; Engineering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484632" y="5001768"/>
            <a:ext cx="11274552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endParaRPr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23282B7-8C2A-C224-DE25-5CB85AE62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219088"/>
              </p:ext>
            </p:extLst>
          </p:nvPr>
        </p:nvGraphicFramePr>
        <p:xfrm>
          <a:off x="3439646" y="4848986"/>
          <a:ext cx="5309532" cy="1640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766">
                  <a:extLst>
                    <a:ext uri="{9D8B030D-6E8A-4147-A177-3AD203B41FA5}">
                      <a16:colId xmlns:a16="http://schemas.microsoft.com/office/drawing/2014/main" val="2269168819"/>
                    </a:ext>
                  </a:extLst>
                </a:gridCol>
                <a:gridCol w="2654766">
                  <a:extLst>
                    <a:ext uri="{9D8B030D-6E8A-4147-A177-3AD203B41FA5}">
                      <a16:colId xmlns:a16="http://schemas.microsoft.com/office/drawing/2014/main" val="4215784328"/>
                    </a:ext>
                  </a:extLst>
                </a:gridCol>
              </a:tblGrid>
              <a:tr h="306832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30618"/>
                  </a:ext>
                </a:extLst>
              </a:tr>
              <a:tr h="3068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Ajay Kumar 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2024503701</a:t>
                      </a:r>
                      <a:endParaRPr lang="en-IN" sz="12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558307420"/>
                  </a:ext>
                </a:extLst>
              </a:tr>
              <a:tr h="3068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Sudalai Kumar 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2024503703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2423320128"/>
                  </a:ext>
                </a:extLst>
              </a:tr>
              <a:tr h="3068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Srinivasan 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2024503707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2751900154"/>
                  </a:ext>
                </a:extLst>
              </a:tr>
              <a:tr h="3068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Satlas Rohit 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2024503305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14406227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6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2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8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90"/>
                            </p:stCondLst>
                            <p:childTnLst>
                              <p:par>
                                <p:cTn id="36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Why does CPU Scheduling need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00116" cy="274320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⚙️  Traditional Scheduling Limitations</a:t>
            </a:r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685800" y="2093976"/>
            <a:ext cx="5042916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21992"/>
            <a:ext cx="5225796" cy="192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7856" indent="-117856"/>
            <a:r>
              <a:rPr sz="1600" b="0">
                <a:solidFill>
                  <a:srgbClr val="FFFFFF"/>
                </a:solidFill>
              </a:rPr>
              <a:t>• FCFS, SJF &amp; Round Robin rely on</a:t>
            </a:r>
            <a:endParaRPr sz="1600"/>
          </a:p>
          <a:p>
            <a:r>
              <a:rPr sz="1600" b="0">
                <a:solidFill>
                  <a:srgbClr val="FFFFFF"/>
                </a:solidFill>
              </a:rPr>
              <a:t>  known Burst Times (BT) up front</a:t>
            </a:r>
            <a:endParaRPr sz="1600"/>
          </a:p>
          <a:p>
            <a:pPr marL="117856" indent="-117856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• In reality, OS cannot predict BT</a:t>
            </a:r>
            <a:endParaRPr sz="1600"/>
          </a:p>
          <a:p>
            <a:r>
              <a:rPr sz="1600" b="0">
                <a:solidFill>
                  <a:srgbClr val="FFFFFF"/>
                </a:solidFill>
              </a:rPr>
              <a:t>  before process execution begins</a:t>
            </a:r>
            <a:endParaRPr sz="1600"/>
          </a:p>
          <a:p>
            <a:pPr marL="117856" indent="-117856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• Static rules cannot adapt to dynamic</a:t>
            </a:r>
            <a:endParaRPr sz="1600"/>
          </a:p>
          <a:p>
            <a:r>
              <a:rPr sz="1600" b="0">
                <a:solidFill>
                  <a:srgbClr val="FFFFFF"/>
                </a:solidFill>
              </a:rPr>
              <a:t>  or real-time workloads</a:t>
            </a:r>
            <a:endParaRPr sz="1600"/>
          </a:p>
        </p:txBody>
      </p:sp>
      <p:sp>
        <p:nvSpPr>
          <p:cNvPr id="12" name="Rectangle 11"/>
          <p:cNvSpPr/>
          <p:nvPr/>
        </p:nvSpPr>
        <p:spPr>
          <a:xfrm>
            <a:off x="6231636" y="1508760"/>
            <a:ext cx="5500116" cy="274320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8796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🧠  Why Bring AI into Scheduling?</a:t>
            </a:r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6460236" y="2093976"/>
            <a:ext cx="5042916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8796" y="2221992"/>
            <a:ext cx="5225796" cy="192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7856" indent="-117856"/>
            <a:r>
              <a:rPr sz="1600" b="0">
                <a:solidFill>
                  <a:srgbClr val="FFFFFF"/>
                </a:solidFill>
              </a:rPr>
              <a:t>• Processes emit real-time telemetry:</a:t>
            </a:r>
            <a:endParaRPr sz="1600"/>
          </a:p>
          <a:p>
            <a:r>
              <a:rPr sz="1600" b="0">
                <a:solidFill>
                  <a:srgbClr val="FFFFFF"/>
                </a:solidFill>
              </a:rPr>
              <a:t>  CPU %, I/O Bytes, Context Switches</a:t>
            </a:r>
            <a:endParaRPr sz="1600"/>
          </a:p>
          <a:p>
            <a:pPr marL="117856" indent="-117856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• ML can PREDICT burst time from</a:t>
            </a:r>
            <a:endParaRPr sz="1600"/>
          </a:p>
          <a:p>
            <a:r>
              <a:rPr sz="1600" b="0">
                <a:solidFill>
                  <a:srgbClr val="FFFFFF"/>
                </a:solidFill>
              </a:rPr>
              <a:t>  these signals before scheduling</a:t>
            </a:r>
            <a:endParaRPr sz="1600"/>
          </a:p>
          <a:p>
            <a:pPr marL="117856" indent="-117856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</a:rPr>
              <a:t>• RL can LEARN optimal switching</a:t>
            </a:r>
            <a:endParaRPr sz="1600"/>
          </a:p>
          <a:p>
            <a:r>
              <a:rPr sz="1600" b="0">
                <a:solidFill>
                  <a:srgbClr val="FFFFFF"/>
                </a:solidFill>
              </a:rPr>
              <a:t>  decisions dynamically at runtime</a:t>
            </a:r>
            <a:endParaRPr sz="1600"/>
          </a:p>
        </p:txBody>
      </p:sp>
      <p:sp>
        <p:nvSpPr>
          <p:cNvPr id="18" name="Key Goal Panel"/>
          <p:cNvSpPr/>
          <p:nvPr/>
        </p:nvSpPr>
        <p:spPr>
          <a:xfrm>
            <a:off x="457200" y="4526280"/>
            <a:ext cx="11274552" cy="15544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654296"/>
            <a:ext cx="11000232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i="0">
                <a:solidFill>
                  <a:srgbClr val="00C9A7"/>
                </a:solidFill>
              </a:rPr>
              <a:t>Key Goal:</a:t>
            </a:r>
            <a:endParaRPr sz="1800"/>
          </a:p>
        </p:txBody>
      </p:sp>
      <p:sp>
        <p:nvSpPr>
          <p:cNvPr id="17" name="TextBox 16"/>
          <p:cNvSpPr txBox="1"/>
          <p:nvPr/>
        </p:nvSpPr>
        <p:spPr>
          <a:xfrm>
            <a:off x="594360" y="5093208"/>
            <a:ext cx="11000232" cy="8595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Build a system that predicts CPU burst time using ML and optimizes process scheduling using Reinforcement Learning — outperforming traditional algorithms.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5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5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5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35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35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 animBg="1"/>
      <p:bldP spid="11" grpId="0" build="p"/>
      <p:bldP spid="12" grpId="0" animBg="1"/>
      <p:bldP spid="13" grpId="0"/>
      <p:bldP spid="14" grpId="0" animBg="1"/>
      <p:bldP spid="15" grpId="0" build="p"/>
      <p:bldP spid="18" grpId="0" animBg="1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Four core goals of this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612898" cy="356616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430018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400" b="1" i="0">
                <a:solidFill>
                  <a:srgbClr val="008BD8"/>
                </a:solidFill>
              </a:rPr>
              <a:t>01</a:t>
            </a:r>
            <a:endParaRPr sz="3400"/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2247138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243001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Burst Time Prediction</a:t>
            </a:r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430018" cy="192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CD6E0"/>
                </a:solidFill>
              </a:rPr>
              <a:t>Use Random Forest Regressor to predict CPU burst time
from real-time process telemetry (I/O, CPU %, switches)</a:t>
            </a:r>
            <a:endParaRPr sz="1400"/>
          </a:p>
        </p:txBody>
      </p:sp>
      <p:sp>
        <p:nvSpPr>
          <p:cNvPr id="13" name="Rectangle 12"/>
          <p:cNvSpPr/>
          <p:nvPr/>
        </p:nvSpPr>
        <p:spPr>
          <a:xfrm>
            <a:off x="3344418" y="1508760"/>
            <a:ext cx="2612898" cy="356616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35858" y="1645920"/>
            <a:ext cx="2430018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400" b="1" i="0">
                <a:solidFill>
                  <a:srgbClr val="008BD8"/>
                </a:solidFill>
              </a:rPr>
              <a:t>02</a:t>
            </a:r>
            <a:endParaRPr sz="3400"/>
          </a:p>
        </p:txBody>
      </p:sp>
      <p:sp>
        <p:nvSpPr>
          <p:cNvPr id="15" name="Rectangle 14"/>
          <p:cNvSpPr/>
          <p:nvPr/>
        </p:nvSpPr>
        <p:spPr>
          <a:xfrm>
            <a:off x="3527298" y="2377440"/>
            <a:ext cx="2247138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35858" y="2487168"/>
            <a:ext cx="243001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Intelligent CPU Scheduling</a:t>
            </a:r>
            <a:endParaRPr sz="1500"/>
          </a:p>
        </p:txBody>
      </p:sp>
      <p:sp>
        <p:nvSpPr>
          <p:cNvPr id="17" name="TextBox 16"/>
          <p:cNvSpPr txBox="1"/>
          <p:nvPr/>
        </p:nvSpPr>
        <p:spPr>
          <a:xfrm>
            <a:off x="3435858" y="3017520"/>
            <a:ext cx="2430018" cy="192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CD6E0"/>
                </a:solidFill>
              </a:rPr>
              <a:t>Train a PPO Reinforcement Learning agent to make
dynamic context-switch decisions at runtime</a:t>
            </a:r>
            <a:endParaRPr sz="1400"/>
          </a:p>
        </p:txBody>
      </p:sp>
      <p:sp>
        <p:nvSpPr>
          <p:cNvPr id="18" name="Rectangle 17"/>
          <p:cNvSpPr/>
          <p:nvPr/>
        </p:nvSpPr>
        <p:spPr>
          <a:xfrm>
            <a:off x="6231636" y="1508760"/>
            <a:ext cx="2612898" cy="356616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30018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400" b="1" i="0">
                <a:solidFill>
                  <a:srgbClr val="008BD8"/>
                </a:solidFill>
              </a:rPr>
              <a:t>03</a:t>
            </a:r>
            <a:endParaRPr sz="3400"/>
          </a:p>
        </p:txBody>
      </p:sp>
      <p:sp>
        <p:nvSpPr>
          <p:cNvPr id="20" name="Rectangle 19"/>
          <p:cNvSpPr/>
          <p:nvPr/>
        </p:nvSpPr>
        <p:spPr>
          <a:xfrm>
            <a:off x="6414516" y="2377440"/>
            <a:ext cx="2247138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3076" y="2487168"/>
            <a:ext cx="243001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Performance Comparison</a:t>
            </a:r>
            <a:endParaRPr sz="1500"/>
          </a:p>
        </p:txBody>
      </p:sp>
      <p:sp>
        <p:nvSpPr>
          <p:cNvPr id="22" name="TextBox 21"/>
          <p:cNvSpPr txBox="1"/>
          <p:nvPr/>
        </p:nvSpPr>
        <p:spPr>
          <a:xfrm>
            <a:off x="6323076" y="3017520"/>
            <a:ext cx="2430018" cy="192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CD6E0"/>
                </a:solidFill>
              </a:rPr>
              <a:t>Benchmark AI scheduler against FCFS, SJF, Round Robin
using WT, TAT, Throughput &amp; CPU Utilization</a:t>
            </a:r>
            <a:endParaRPr sz="1400"/>
          </a:p>
        </p:txBody>
      </p:sp>
      <p:sp>
        <p:nvSpPr>
          <p:cNvPr id="23" name="Rectangle 22"/>
          <p:cNvSpPr/>
          <p:nvPr/>
        </p:nvSpPr>
        <p:spPr>
          <a:xfrm>
            <a:off x="9118854" y="1508760"/>
            <a:ext cx="2612898" cy="356616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0294" y="1645920"/>
            <a:ext cx="2430018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400" b="1" i="0">
                <a:solidFill>
                  <a:srgbClr val="008BD8"/>
                </a:solidFill>
              </a:rPr>
              <a:t>04</a:t>
            </a:r>
            <a:endParaRPr sz="3400"/>
          </a:p>
        </p:txBody>
      </p:sp>
      <p:sp>
        <p:nvSpPr>
          <p:cNvPr id="25" name="Rectangle 24"/>
          <p:cNvSpPr/>
          <p:nvPr/>
        </p:nvSpPr>
        <p:spPr>
          <a:xfrm>
            <a:off x="9301734" y="2377440"/>
            <a:ext cx="2247138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0294" y="2487168"/>
            <a:ext cx="2430018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Interactive Web Interface</a:t>
            </a:r>
            <a:endParaRPr sz="1500"/>
          </a:p>
        </p:txBody>
      </p:sp>
      <p:sp>
        <p:nvSpPr>
          <p:cNvPr id="27" name="TextBox 26"/>
          <p:cNvSpPr txBox="1"/>
          <p:nvPr/>
        </p:nvSpPr>
        <p:spPr>
          <a:xfrm>
            <a:off x="9210294" y="3017520"/>
            <a:ext cx="2430018" cy="192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CD6E0"/>
                </a:solidFill>
              </a:rPr>
              <a:t>Build a Flask-based UI for real-time simulation of
both traditional and AI-powered schedulers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1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2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33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14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/>
      <p:bldP spid="25" grpId="0" animBg="1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End-to-End AI Scheduling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331464" cy="150876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36776"/>
            <a:ext cx="3057144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🖥️  Web Frontend</a:t>
            </a:r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3057144" cy="8503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CD6E0"/>
                </a:solidFill>
              </a:rPr>
              <a:t>HTML + Bootstrap + JavaScript
User inputs process telemetry</a:t>
            </a:r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4428744" y="1508760"/>
            <a:ext cx="3331464" cy="150876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5904" y="1636776"/>
            <a:ext cx="3057144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8BD8"/>
                </a:solidFill>
              </a:rPr>
              <a:t>⚗️  Flask Backend</a:t>
            </a:r>
            <a:endParaRPr sz="1500"/>
          </a:p>
        </p:txBody>
      </p:sp>
      <p:sp>
        <p:nvSpPr>
          <p:cNvPr id="13" name="TextBox 12"/>
          <p:cNvSpPr txBox="1"/>
          <p:nvPr/>
        </p:nvSpPr>
        <p:spPr>
          <a:xfrm>
            <a:off x="4565904" y="2075688"/>
            <a:ext cx="3057144" cy="8503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CD6E0"/>
                </a:solidFill>
              </a:rPr>
              <a:t>Python REST API (/schedule)
Receives JSON process data</a:t>
            </a:r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8400288" y="1508760"/>
            <a:ext cx="3331464" cy="1508760"/>
          </a:xfrm>
          <a:prstGeom prst="rect">
            <a:avLst/>
          </a:prstGeom>
          <a:solidFill>
            <a:srgbClr val="162B3F"/>
          </a:solidFill>
          <a:ln w="2286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7448" y="1636776"/>
            <a:ext cx="3057144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🤖  ML Prediction</a:t>
            </a:r>
            <a:endParaRPr sz="1500"/>
          </a:p>
        </p:txBody>
      </p:sp>
      <p:sp>
        <p:nvSpPr>
          <p:cNvPr id="16" name="TextBox 15"/>
          <p:cNvSpPr txBox="1"/>
          <p:nvPr/>
        </p:nvSpPr>
        <p:spPr>
          <a:xfrm>
            <a:off x="8537448" y="2075688"/>
            <a:ext cx="3057144" cy="8503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CD6E0"/>
                </a:solidFill>
              </a:rPr>
              <a:t>Random Forest Regressor
Predicts Burst Time per process</a:t>
            </a:r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3331464" cy="150876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648456"/>
            <a:ext cx="3057144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🧠  RL Scheduler</a:t>
            </a:r>
            <a:endParaRPr sz="1500"/>
          </a:p>
        </p:txBody>
      </p:sp>
      <p:sp>
        <p:nvSpPr>
          <p:cNvPr id="19" name="TextBox 18"/>
          <p:cNvSpPr txBox="1"/>
          <p:nvPr/>
        </p:nvSpPr>
        <p:spPr>
          <a:xfrm>
            <a:off x="594360" y="4087368"/>
            <a:ext cx="3057144" cy="8503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CD6E0"/>
                </a:solidFill>
              </a:rPr>
              <a:t>PPO Agent (stable-baselines3)
Decides: Continue or Switch</a:t>
            </a:r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4428744" y="3520440"/>
            <a:ext cx="3331464" cy="150876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65904" y="3648456"/>
            <a:ext cx="3057144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8BD8"/>
                </a:solidFill>
              </a:rPr>
              <a:t>📊  Output Metrics</a:t>
            </a:r>
            <a:endParaRPr sz="1500"/>
          </a:p>
        </p:txBody>
      </p:sp>
      <p:sp>
        <p:nvSpPr>
          <p:cNvPr id="22" name="TextBox 21"/>
          <p:cNvSpPr txBox="1"/>
          <p:nvPr/>
        </p:nvSpPr>
        <p:spPr>
          <a:xfrm>
            <a:off x="4565904" y="4087368"/>
            <a:ext cx="3057144" cy="8503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CD6E0"/>
                </a:solidFill>
              </a:rPr>
              <a:t>WT, TAT, Throughput,
CPU Utilization returned</a:t>
            </a:r>
            <a:endParaRPr sz="1350"/>
          </a:p>
        </p:txBody>
      </p:sp>
      <p:sp>
        <p:nvSpPr>
          <p:cNvPr id="23" name="Rectangle 22"/>
          <p:cNvSpPr/>
          <p:nvPr/>
        </p:nvSpPr>
        <p:spPr>
          <a:xfrm>
            <a:off x="8400288" y="3520440"/>
            <a:ext cx="3331464" cy="1508760"/>
          </a:xfrm>
          <a:prstGeom prst="rect">
            <a:avLst/>
          </a:prstGeom>
          <a:solidFill>
            <a:srgbClr val="162B3F"/>
          </a:solidFill>
          <a:ln w="2286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37448" y="3648456"/>
            <a:ext cx="3057144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📁  Stored Models</a:t>
            </a:r>
            <a:endParaRPr sz="1500"/>
          </a:p>
        </p:txBody>
      </p:sp>
      <p:sp>
        <p:nvSpPr>
          <p:cNvPr id="25" name="TextBox 24"/>
          <p:cNvSpPr txBox="1"/>
          <p:nvPr/>
        </p:nvSpPr>
        <p:spPr>
          <a:xfrm>
            <a:off x="8537448" y="4087368"/>
            <a:ext cx="3057144" cy="8503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CD6E0"/>
                </a:solidFill>
              </a:rPr>
              <a:t>burst_time_predictor.joblib
rl_scheduler_model.zip (PPO)</a:t>
            </a:r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3788664" y="2034540"/>
            <a:ext cx="6400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008BD8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0208" y="2034540"/>
            <a:ext cx="6400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008BD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2892" y="3044952"/>
            <a:ext cx="6400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4436" y="3044952"/>
            <a:ext cx="6400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5980" y="3044952"/>
            <a:ext cx="6400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8664" y="4046220"/>
            <a:ext cx="6400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>
                <a:solidFill>
                  <a:srgbClr val="008BD8"/>
                </a:solidFill>
              </a:rPr>
              <a:t>→</a:t>
            </a:r>
          </a:p>
        </p:txBody>
      </p:sp>
      <p:sp>
        <p:nvSpPr>
          <p:cNvPr id="33" name="Notes Panel"/>
          <p:cNvSpPr/>
          <p:nvPr/>
        </p:nvSpPr>
        <p:spPr>
          <a:xfrm>
            <a:off x="457200" y="5303520"/>
            <a:ext cx="11274552" cy="86868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5349240"/>
            <a:ext cx="11000232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📌  Case 1 (Traditional): FCFS / SJF / Round Robin — computed entirely in JavaScript (Frontend)
📌  Case 2 (AI-Powered): ML Burst Prediction  →  PPO RL Scheduling — runs via Python Backend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1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2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8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14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8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1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37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08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Dataset &amp;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Random Forest Regressor for Burst Time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00116" cy="24688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📁  Dataset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225796" cy="1737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/>
            <a:r>
              <a:rPr sz="1500" b="0">
                <a:solidFill>
                  <a:srgbClr val="FFFFFF"/>
                </a:solidFill>
              </a:rPr>
              <a:t>• 6,600+ real OS process execution logs</a:t>
            </a:r>
            <a:endParaRPr sz="1500"/>
          </a:p>
          <a:p>
            <a:pPr marL="110490" indent="-110490">
              <a:spcBef>
                <a:spcPts val="500"/>
              </a:spcBef>
            </a:pPr>
            <a:r>
              <a:rPr sz="1500" b="0">
                <a:solidFill>
                  <a:srgbClr val="FFFFFF"/>
                </a:solidFill>
              </a:rPr>
              <a:t>• Collected from Windows process monitor</a:t>
            </a:r>
            <a:endParaRPr sz="1500"/>
          </a:p>
          <a:p>
            <a:pPr marL="110490" indent="-110490">
              <a:spcBef>
                <a:spcPts val="500"/>
              </a:spcBef>
            </a:pPr>
            <a:r>
              <a:rPr sz="1500" b="0">
                <a:solidFill>
                  <a:srgbClr val="FFFFFF"/>
                </a:solidFill>
              </a:rPr>
              <a:t>• Target variable: cpu_times_user + cpu_times_system</a:t>
            </a:r>
            <a:endParaRPr sz="1500"/>
          </a:p>
          <a:p>
            <a:pPr marL="110490" indent="-110490">
              <a:spcBef>
                <a:spcPts val="500"/>
              </a:spcBef>
            </a:pPr>
            <a:r>
              <a:rPr sz="1500" b="0">
                <a:solidFill>
                  <a:srgbClr val="FFFFFF"/>
                </a:solidFill>
              </a:rPr>
              <a:t>• Filename: process_data.csv</a:t>
            </a:r>
            <a:endParaRPr sz="1500"/>
          </a:p>
        </p:txBody>
      </p:sp>
      <p:sp>
        <p:nvSpPr>
          <p:cNvPr id="11" name="Rectangle 10"/>
          <p:cNvSpPr/>
          <p:nvPr/>
        </p:nvSpPr>
        <p:spPr>
          <a:xfrm>
            <a:off x="6231636" y="1508760"/>
            <a:ext cx="5500116" cy="24688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8796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8BD8"/>
                </a:solidFill>
              </a:rPr>
              <a:t>🔬  Feature Set (6 Inputs)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6368796" y="2148840"/>
            <a:ext cx="5225796" cy="1737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Consolas"/>
              </a:rPr>
              <a:t>io_write_bytes       → Bytes written to disk</a:t>
            </a:r>
            <a:endParaRPr sz="1400"/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num_ctx_switches_voluntary  → Process waits</a:t>
            </a:r>
            <a:endParaRPr sz="1400"/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cpu_percent          → CPU usage at snapshot</a:t>
            </a:r>
            <a:endParaRPr sz="1400"/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io_read_bytes        → Bytes read from disk</a:t>
            </a:r>
            <a:endParaRPr sz="1400"/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io_read_count        → Number of read calls</a:t>
            </a:r>
            <a:endParaRPr sz="1400"/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io_write_count       → Number of write calls</a:t>
            </a:r>
            <a:endParaRPr sz="1400"/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2612898" cy="18745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379976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📉  MAE</a:t>
            </a:r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502920" y="4818888"/>
            <a:ext cx="2521458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0.0304</a:t>
            </a:r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502920" y="5623560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Mean Absolute Error</a:t>
            </a:r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3344418" y="4251960"/>
            <a:ext cx="2612898" cy="18745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90138" y="4379976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📊  MSE</a:t>
            </a:r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3390138" y="4818888"/>
            <a:ext cx="2521458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0.0815</a:t>
            </a:r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3390138" y="5623560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Mean Squared Error</a:t>
            </a:r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6231636" y="4251960"/>
            <a:ext cx="2612898" cy="18745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7356" y="4379976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✅  R² Score</a:t>
            </a:r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6277356" y="4818888"/>
            <a:ext cx="2521458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1.0000</a:t>
            </a:r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6277356" y="5623560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Coefficient of Determination</a:t>
            </a:r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9118854" y="4251960"/>
            <a:ext cx="2612898" cy="18745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64574" y="4379976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🏆  Model</a:t>
            </a:r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9164574" y="4818888"/>
            <a:ext cx="2521458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Random Forest</a:t>
            </a:r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9164574" y="5623560"/>
            <a:ext cx="2521458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Best Performer (100 estimators)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1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5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5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5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5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47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 build="p"/>
      <p:bldP spid="11" grpId="0" animBg="1"/>
      <p:bldP spid="12" grpId="0"/>
      <p:bldP spid="13" grpId="0" build="p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Reinforcement Learning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PPO Agent for Dynamic CPU Process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00116" cy="46177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🧠  PPO Environment Design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5225796" cy="3849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500" b="1">
                <a:solidFill>
                  <a:srgbClr val="CCD6E0"/>
                </a:solidFill>
              </a:rPr>
              <a:t>Algorithm:  PPO  (Proximal Policy Optimization)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Library:  stable-baselines3  +  PyTorch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</a:t>
            </a:r>
            <a:endParaRPr sz="1500"/>
          </a:p>
          <a:p>
            <a:r>
              <a:rPr sz="1500" b="1">
                <a:solidFill>
                  <a:srgbClr val="CCD6E0"/>
                </a:solidFill>
              </a:rPr>
              <a:t>STATE SPACE (4 dimensions):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 • Predicted Burst Time of current process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 • Waiting Time of current process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 • Queue Length (# processes waiting)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 • Execution Progress (0 → 100%)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</a:t>
            </a:r>
            <a:endParaRPr sz="1500"/>
          </a:p>
          <a:p>
            <a:r>
              <a:rPr sz="1500" b="1">
                <a:solidFill>
                  <a:srgbClr val="CCD6E0"/>
                </a:solidFill>
              </a:rPr>
              <a:t>ACTION SPACE (Binary Decision):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 0 → Keep running current process</a:t>
            </a:r>
            <a:endParaRPr sz="1500"/>
          </a:p>
          <a:p>
            <a:r>
              <a:rPr sz="1500" b="0">
                <a:solidFill>
                  <a:srgbClr val="CCD6E0"/>
                </a:solidFill>
              </a:rPr>
              <a:t>  1 → Context-switch to next process</a:t>
            </a:r>
            <a:endParaRPr sz="1500"/>
          </a:p>
        </p:txBody>
      </p:sp>
      <p:sp>
        <p:nvSpPr>
          <p:cNvPr id="11" name="Rectangle 10"/>
          <p:cNvSpPr/>
          <p:nvPr/>
        </p:nvSpPr>
        <p:spPr>
          <a:xfrm>
            <a:off x="6231636" y="1508760"/>
            <a:ext cx="5500116" cy="46177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8796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8BD8"/>
                </a:solidFill>
              </a:rPr>
              <a:t>🎯  Reward System &amp; Hyperparameters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6368796" y="2167128"/>
            <a:ext cx="5225796" cy="3849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350" b="1">
                <a:solidFill>
                  <a:srgbClr val="CCD6E0"/>
                </a:solidFill>
                <a:latin typeface="Consolas"/>
              </a:rPr>
              <a:t>REWARD DESIGN: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+5.0   → Process completes successfully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-0.5   → Context switch penalty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-0.1   → Waiting penalty (per waiting proc)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-1.0   → Long wait penalty (&gt; threshold)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+10.0  → Bonus: efficient total completion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</a:t>
            </a:r>
            <a:endParaRPr sz="1350"/>
          </a:p>
          <a:p>
            <a:r>
              <a:rPr sz="1350" b="1">
                <a:solidFill>
                  <a:srgbClr val="CCD6E0"/>
                </a:solidFill>
                <a:latin typeface="Consolas"/>
              </a:rPr>
              <a:t>PPO HYPERPARAMETERS: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Learning Rate :  0.0001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Batch Size    :  32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Steps/Update  :  1024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Discount γ    :  0.99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Epochs        :  8</a:t>
            </a:r>
            <a:endParaRPr sz="1350"/>
          </a:p>
          <a:p>
            <a:r>
              <a:rPr sz="1350" b="0">
                <a:solidFill>
                  <a:srgbClr val="CCD6E0"/>
                </a:solidFill>
                <a:latin typeface="Consolas"/>
              </a:rPr>
              <a:t>  Total Steps   :  150,000</a:t>
            </a:r>
            <a:endParaRPr sz="13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5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5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5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5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3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5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35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35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35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35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35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5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35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35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5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35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35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35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 build="p"/>
      <p:bldP spid="11" grpId="0" animBg="1"/>
      <p:bldP spid="12" grpId="0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Tools &amp; Frameworks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00116" cy="214884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🌐  Frontend</a:t>
            </a:r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685800" y="2093976"/>
            <a:ext cx="5042916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03704"/>
            <a:ext cx="5225796" cy="1344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/>
            <a:r>
              <a:rPr sz="1500" b="0">
                <a:solidFill>
                  <a:srgbClr val="FFFFFF"/>
                </a:solidFill>
              </a:rPr>
              <a:t>• HTML5 + CSS3 (Bootstrap 5)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JavaScript (Fetch API)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DOM Manipulation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Case 1: Pure client-side JS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Case 2: AJAX to Flask API</a:t>
            </a:r>
            <a:endParaRPr sz="1500"/>
          </a:p>
        </p:txBody>
      </p:sp>
      <p:sp>
        <p:nvSpPr>
          <p:cNvPr id="12" name="Rectangle 11"/>
          <p:cNvSpPr/>
          <p:nvPr/>
        </p:nvSpPr>
        <p:spPr>
          <a:xfrm>
            <a:off x="6231636" y="1508760"/>
            <a:ext cx="5500116" cy="214884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8796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8BD8"/>
                </a:solidFill>
              </a:rPr>
              <a:t>⚙️  Backend</a:t>
            </a:r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6460236" y="2093976"/>
            <a:ext cx="5042916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8796" y="2203704"/>
            <a:ext cx="5225796" cy="1344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/>
            <a:r>
              <a:rPr sz="1500" b="0">
                <a:solidFill>
                  <a:srgbClr val="FFFFFF"/>
                </a:solidFill>
              </a:rPr>
              <a:t>• Python 3.13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Flask Web Framework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REST API (/schedule)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JSON request/response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Logging &amp; Error Handling</a:t>
            </a:r>
            <a:endParaRPr sz="1500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500116" cy="2148840"/>
          </a:xfrm>
          <a:prstGeom prst="rect">
            <a:avLst/>
          </a:prstGeom>
          <a:solidFill>
            <a:srgbClr val="162B3F"/>
          </a:solidFill>
          <a:ln w="2286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04164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🤖  ML / AI</a:t>
            </a:r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685800" y="4517136"/>
            <a:ext cx="5042916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626864"/>
            <a:ext cx="5225796" cy="1344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/>
            <a:r>
              <a:rPr sz="1500" b="0">
                <a:solidFill>
                  <a:srgbClr val="FFFFFF"/>
                </a:solidFill>
              </a:rPr>
              <a:t>• scikit-learn (RandomForest)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joblib (model persistence)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stable-baselines3 (PPO)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gymnasium (RL environment)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PyTorch (neural policy)</a:t>
            </a:r>
            <a:endParaRPr sz="1500"/>
          </a:p>
        </p:txBody>
      </p:sp>
      <p:sp>
        <p:nvSpPr>
          <p:cNvPr id="20" name="Rectangle 19"/>
          <p:cNvSpPr/>
          <p:nvPr/>
        </p:nvSpPr>
        <p:spPr>
          <a:xfrm>
            <a:off x="6231636" y="3931920"/>
            <a:ext cx="5500116" cy="214884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8796" y="404164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📦  Data &amp; Storage</a:t>
            </a:r>
            <a:endParaRPr sz="1600"/>
          </a:p>
        </p:txBody>
      </p:sp>
      <p:sp>
        <p:nvSpPr>
          <p:cNvPr id="22" name="Rectangle 21"/>
          <p:cNvSpPr/>
          <p:nvPr/>
        </p:nvSpPr>
        <p:spPr>
          <a:xfrm>
            <a:off x="6460236" y="4517136"/>
            <a:ext cx="5042916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8796" y="4626864"/>
            <a:ext cx="5225796" cy="1344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/>
            <a:r>
              <a:rPr sz="1500" b="0">
                <a:solidFill>
                  <a:srgbClr val="FFFFFF"/>
                </a:solidFill>
              </a:rPr>
              <a:t>• pandas + numpy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process_data.csv (6,600+ rows)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burst_time_predictor.joblib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feature_scaler.joblib</a:t>
            </a:r>
            <a:endParaRPr sz="1500"/>
          </a:p>
          <a:p>
            <a:pPr marL="110490" indent="-110490">
              <a:spcBef>
                <a:spcPts val="300"/>
              </a:spcBef>
            </a:pPr>
            <a:r>
              <a:rPr sz="1500" b="0">
                <a:solidFill>
                  <a:srgbClr val="FFFFFF"/>
                </a:solidFill>
              </a:rPr>
              <a:t>• rl_scheduler_model.zip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1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5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5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5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3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5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35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35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35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5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35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5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 animBg="1"/>
      <p:bldP spid="11" grpId="0" build="p"/>
      <p:bldP spid="12" grpId="0" animBg="1"/>
      <p:bldP spid="13" grpId="0"/>
      <p:bldP spid="14" grpId="0" animBg="1"/>
      <p:bldP spid="15" grpId="0" build="p"/>
      <p:bldP spid="16" grpId="0" animBg="1"/>
      <p:bldP spid="17" grpId="0"/>
      <p:bldP spid="18" grpId="0" animBg="1"/>
      <p:bldP spid="19" grpId="0" build="p"/>
      <p:bldP spid="20" grpId="0" animBg="1"/>
      <p:bldP spid="21" grpId="0"/>
      <p:bldP spid="22" grpId="0" animBg="1"/>
      <p:bldP spid="2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Traditional Scheduling Algorithms (Case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FCFS · SJF · Round Robin — Simulated in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575304" cy="347472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3392424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800" b="1" i="0">
                <a:solidFill>
                  <a:srgbClr val="00C9A7"/>
                </a:solidFill>
              </a:rPr>
              <a:t>FCFS</a:t>
            </a:r>
            <a:endParaRPr sz="3800"/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3392424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1" i="0">
                <a:solidFill>
                  <a:srgbClr val="008BD8"/>
                </a:solidFill>
              </a:rPr>
              <a:t>First Come First Serve</a:t>
            </a:r>
            <a:endParaRPr sz="1500"/>
          </a:p>
        </p:txBody>
      </p:sp>
      <p:sp>
        <p:nvSpPr>
          <p:cNvPr id="11" name="Rectangle 10"/>
          <p:cNvSpPr/>
          <p:nvPr/>
        </p:nvSpPr>
        <p:spPr>
          <a:xfrm>
            <a:off x="731520" y="2862072"/>
            <a:ext cx="3026664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990088"/>
            <a:ext cx="3392424" cy="19019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 algn="l"/>
            <a:r>
              <a:rPr sz="1500" b="0" i="0">
                <a:solidFill>
                  <a:srgbClr val="CCD6E0"/>
                </a:solidFill>
              </a:rPr>
              <a:t>• Processes sorted by Arrival Time
• Non-preemptive: runs to completion
• Simple but may cause convoy effect
• Avg WT can be high with varied BT</a:t>
            </a:r>
            <a:endParaRPr sz="1500"/>
          </a:p>
        </p:txBody>
      </p:sp>
      <p:sp>
        <p:nvSpPr>
          <p:cNvPr id="13" name="Rectangle 12"/>
          <p:cNvSpPr/>
          <p:nvPr/>
        </p:nvSpPr>
        <p:spPr>
          <a:xfrm>
            <a:off x="4306824" y="1508760"/>
            <a:ext cx="3575304" cy="347472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98264" y="1618488"/>
            <a:ext cx="3392424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800" b="1" i="0">
                <a:solidFill>
                  <a:srgbClr val="00C9A7"/>
                </a:solidFill>
              </a:rPr>
              <a:t>SJF</a:t>
            </a:r>
            <a:endParaRPr sz="3800"/>
          </a:p>
        </p:txBody>
      </p:sp>
      <p:sp>
        <p:nvSpPr>
          <p:cNvPr id="15" name="TextBox 14"/>
          <p:cNvSpPr txBox="1"/>
          <p:nvPr/>
        </p:nvSpPr>
        <p:spPr>
          <a:xfrm>
            <a:off x="4398264" y="2350008"/>
            <a:ext cx="3392424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1" i="0">
                <a:solidFill>
                  <a:srgbClr val="008BD8"/>
                </a:solidFill>
              </a:rPr>
              <a:t>Shortest Job First</a:t>
            </a:r>
            <a:endParaRPr sz="1500"/>
          </a:p>
        </p:txBody>
      </p:sp>
      <p:sp>
        <p:nvSpPr>
          <p:cNvPr id="16" name="Rectangle 15"/>
          <p:cNvSpPr/>
          <p:nvPr/>
        </p:nvSpPr>
        <p:spPr>
          <a:xfrm>
            <a:off x="4581144" y="2862072"/>
            <a:ext cx="3026664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98264" y="2990088"/>
            <a:ext cx="3392424" cy="19019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 algn="l"/>
            <a:r>
              <a:rPr sz="1500" b="0" i="0">
                <a:solidFill>
                  <a:srgbClr val="CCD6E0"/>
                </a:solidFill>
              </a:rPr>
              <a:t>• Sorted by predicted Burst Time
• Non-preemptive variant
• Minimizes average waiting time
• Requires burst time estimate</a:t>
            </a:r>
            <a:endParaRPr sz="1500"/>
          </a:p>
        </p:txBody>
      </p:sp>
      <p:sp>
        <p:nvSpPr>
          <p:cNvPr id="18" name="Rectangle 17"/>
          <p:cNvSpPr/>
          <p:nvPr/>
        </p:nvSpPr>
        <p:spPr>
          <a:xfrm>
            <a:off x="8156448" y="1508760"/>
            <a:ext cx="3575304" cy="347472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618488"/>
            <a:ext cx="3392424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800" b="1" i="0">
                <a:solidFill>
                  <a:srgbClr val="00C9A7"/>
                </a:solidFill>
              </a:rPr>
              <a:t>RR</a:t>
            </a:r>
            <a:endParaRPr sz="3800"/>
          </a:p>
        </p:txBody>
      </p:sp>
      <p:sp>
        <p:nvSpPr>
          <p:cNvPr id="20" name="TextBox 19"/>
          <p:cNvSpPr txBox="1"/>
          <p:nvPr/>
        </p:nvSpPr>
        <p:spPr>
          <a:xfrm>
            <a:off x="8247888" y="2350008"/>
            <a:ext cx="3392424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1" i="0">
                <a:solidFill>
                  <a:srgbClr val="008BD8"/>
                </a:solidFill>
              </a:rPr>
              <a:t>Round Robin</a:t>
            </a:r>
            <a:endParaRPr sz="1500"/>
          </a:p>
        </p:txBody>
      </p:sp>
      <p:sp>
        <p:nvSpPr>
          <p:cNvPr id="21" name="Rectangle 20"/>
          <p:cNvSpPr/>
          <p:nvPr/>
        </p:nvSpPr>
        <p:spPr>
          <a:xfrm>
            <a:off x="8430768" y="2862072"/>
            <a:ext cx="3026664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990088"/>
            <a:ext cx="3392424" cy="19019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10490" indent="-110490" algn="l"/>
            <a:r>
              <a:rPr sz="1500" b="0" i="0">
                <a:solidFill>
                  <a:srgbClr val="CCD6E0"/>
                </a:solidFill>
              </a:rPr>
              <a:t>• Preemptive time-sharing scheduler
• Configurable Time Quantum (default 4)
• Fair CPU distribution
• Context switch overhead applies</a:t>
            </a:r>
            <a:endParaRPr sz="1500"/>
          </a:p>
        </p:txBody>
      </p:sp>
      <p:sp>
        <p:nvSpPr>
          <p:cNvPr id="24" name="Note Panel"/>
          <p:cNvSpPr/>
          <p:nvPr/>
        </p:nvSpPr>
        <p:spPr>
          <a:xfrm>
            <a:off x="457200" y="5257800"/>
            <a:ext cx="11274552" cy="73152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11000232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0" i="0">
                <a:solidFill>
                  <a:srgbClr val="FFD600"/>
                </a:solidFill>
              </a:rPr>
              <a:t>📌  Output Metrics computed for all algorithms:  Completion Time · Turnaround Time · Waiting Time · Throughput · CPU Utilization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1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97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/>
      <p:bldP spid="11" grpId="0" animBg="1"/>
      <p:bldP spid="12" grpId="0" build="p"/>
      <p:bldP spid="13" grpId="0" animBg="1"/>
      <p:bldP spid="14" grpId="0"/>
      <p:bldP spid="15" grpId="0"/>
      <p:bldP spid="16" grpId="0" animBg="1"/>
      <p:bldP spid="17" grpId="0" build="p"/>
      <p:bldP spid="18" grpId="0" animBg="1"/>
      <p:bldP spid="19" grpId="0"/>
      <p:bldP spid="20" grpId="0"/>
      <p:bldP spid="21" grpId="0" animBg="1"/>
      <p:bldP spid="22" grpId="0" build="p"/>
      <p:bldP spid="24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AI Scheduler vs Traditional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651760" cy="47548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65176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Metric</a:t>
            </a:r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3163824" y="1508760"/>
            <a:ext cx="2011680" cy="47548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63824" y="1508760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FCFS</a:t>
            </a:r>
            <a:endParaRPr sz="1400"/>
          </a:p>
        </p:txBody>
      </p:sp>
      <p:sp>
        <p:nvSpPr>
          <p:cNvPr id="12" name="Rectangle 11"/>
          <p:cNvSpPr/>
          <p:nvPr/>
        </p:nvSpPr>
        <p:spPr>
          <a:xfrm>
            <a:off x="5230368" y="1508760"/>
            <a:ext cx="2011680" cy="47548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0368" y="1508760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SJF</a:t>
            </a:r>
            <a:endParaRPr sz="1400"/>
          </a:p>
        </p:txBody>
      </p:sp>
      <p:sp>
        <p:nvSpPr>
          <p:cNvPr id="14" name="Rectangle 13"/>
          <p:cNvSpPr/>
          <p:nvPr/>
        </p:nvSpPr>
        <p:spPr>
          <a:xfrm>
            <a:off x="7296912" y="1508760"/>
            <a:ext cx="2011680" cy="47548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6912" y="1508760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Round Robin</a:t>
            </a:r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9363456" y="1508760"/>
            <a:ext cx="2368296" cy="47548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63456" y="1508760"/>
            <a:ext cx="236829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Scheduler (PPO)</a:t>
            </a:r>
            <a:endParaRPr sz="1400"/>
          </a:p>
        </p:txBody>
      </p:sp>
      <p:sp>
        <p:nvSpPr>
          <p:cNvPr id="18" name="Rectangle 17"/>
          <p:cNvSpPr/>
          <p:nvPr/>
        </p:nvSpPr>
        <p:spPr>
          <a:xfrm>
            <a:off x="457200" y="2039112"/>
            <a:ext cx="265176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039112"/>
            <a:ext cx="265176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Avg Waiting Time</a:t>
            </a:r>
            <a:endParaRPr sz="1400"/>
          </a:p>
        </p:txBody>
      </p:sp>
      <p:sp>
        <p:nvSpPr>
          <p:cNvPr id="20" name="Rectangle 19"/>
          <p:cNvSpPr/>
          <p:nvPr/>
        </p:nvSpPr>
        <p:spPr>
          <a:xfrm>
            <a:off x="3163824" y="2039112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3824" y="2039112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High</a:t>
            </a:r>
            <a:endParaRPr sz="1400"/>
          </a:p>
        </p:txBody>
      </p:sp>
      <p:sp>
        <p:nvSpPr>
          <p:cNvPr id="22" name="Rectangle 21"/>
          <p:cNvSpPr/>
          <p:nvPr/>
        </p:nvSpPr>
        <p:spPr>
          <a:xfrm>
            <a:off x="5230368" y="2039112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0368" y="2039112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Medium</a:t>
            </a:r>
            <a:endParaRPr sz="1400"/>
          </a:p>
        </p:txBody>
      </p:sp>
      <p:sp>
        <p:nvSpPr>
          <p:cNvPr id="24" name="Rectangle 23"/>
          <p:cNvSpPr/>
          <p:nvPr/>
        </p:nvSpPr>
        <p:spPr>
          <a:xfrm>
            <a:off x="7296912" y="2039112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2039112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Medium</a:t>
            </a:r>
            <a:endParaRPr sz="1400"/>
          </a:p>
        </p:txBody>
      </p:sp>
      <p:sp>
        <p:nvSpPr>
          <p:cNvPr id="26" name="Rectangle 25"/>
          <p:cNvSpPr/>
          <p:nvPr/>
        </p:nvSpPr>
        <p:spPr>
          <a:xfrm>
            <a:off x="9363456" y="2039112"/>
            <a:ext cx="2368296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3456" y="2039112"/>
            <a:ext cx="236829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✅ Lowest (Optimized)</a:t>
            </a:r>
            <a:endParaRPr sz="1400"/>
          </a:p>
        </p:txBody>
      </p:sp>
      <p:sp>
        <p:nvSpPr>
          <p:cNvPr id="28" name="Rectangle 27"/>
          <p:cNvSpPr/>
          <p:nvPr/>
        </p:nvSpPr>
        <p:spPr>
          <a:xfrm>
            <a:off x="457200" y="2569464"/>
            <a:ext cx="265176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569464"/>
            <a:ext cx="265176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CPU Utilization</a:t>
            </a:r>
            <a:endParaRPr sz="1400"/>
          </a:p>
        </p:txBody>
      </p:sp>
      <p:sp>
        <p:nvSpPr>
          <p:cNvPr id="30" name="Rectangle 29"/>
          <p:cNvSpPr/>
          <p:nvPr/>
        </p:nvSpPr>
        <p:spPr>
          <a:xfrm>
            <a:off x="3163824" y="2569464"/>
            <a:ext cx="201168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63824" y="2569464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Varied</a:t>
            </a:r>
            <a:endParaRPr sz="1400"/>
          </a:p>
        </p:txBody>
      </p:sp>
      <p:sp>
        <p:nvSpPr>
          <p:cNvPr id="32" name="Rectangle 31"/>
          <p:cNvSpPr/>
          <p:nvPr/>
        </p:nvSpPr>
        <p:spPr>
          <a:xfrm>
            <a:off x="5230368" y="2569464"/>
            <a:ext cx="201168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2569464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Medium</a:t>
            </a:r>
            <a:endParaRPr sz="1400"/>
          </a:p>
        </p:txBody>
      </p:sp>
      <p:sp>
        <p:nvSpPr>
          <p:cNvPr id="34" name="Rectangle 33"/>
          <p:cNvSpPr/>
          <p:nvPr/>
        </p:nvSpPr>
        <p:spPr>
          <a:xfrm>
            <a:off x="7296912" y="2569464"/>
            <a:ext cx="201168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96912" y="2569464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Good</a:t>
            </a:r>
            <a:endParaRPr sz="1400"/>
          </a:p>
        </p:txBody>
      </p:sp>
      <p:sp>
        <p:nvSpPr>
          <p:cNvPr id="36" name="Rectangle 35"/>
          <p:cNvSpPr/>
          <p:nvPr/>
        </p:nvSpPr>
        <p:spPr>
          <a:xfrm>
            <a:off x="9363456" y="2569464"/>
            <a:ext cx="2368296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3456" y="2569464"/>
            <a:ext cx="236829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✅ &gt; 90%</a:t>
            </a:r>
            <a:endParaRPr sz="1400"/>
          </a:p>
        </p:txBody>
      </p:sp>
      <p:sp>
        <p:nvSpPr>
          <p:cNvPr id="38" name="Rectangle 37"/>
          <p:cNvSpPr/>
          <p:nvPr/>
        </p:nvSpPr>
        <p:spPr>
          <a:xfrm>
            <a:off x="457200" y="3099816"/>
            <a:ext cx="265176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3099816"/>
            <a:ext cx="265176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Burst Time Known?</a:t>
            </a:r>
            <a:endParaRPr sz="1400"/>
          </a:p>
        </p:txBody>
      </p:sp>
      <p:sp>
        <p:nvSpPr>
          <p:cNvPr id="40" name="Rectangle 39"/>
          <p:cNvSpPr/>
          <p:nvPr/>
        </p:nvSpPr>
        <p:spPr>
          <a:xfrm>
            <a:off x="3163824" y="3099816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63824" y="3099816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Yes</a:t>
            </a:r>
            <a:endParaRPr sz="1400"/>
          </a:p>
        </p:txBody>
      </p:sp>
      <p:sp>
        <p:nvSpPr>
          <p:cNvPr id="42" name="Rectangle 41"/>
          <p:cNvSpPr/>
          <p:nvPr/>
        </p:nvSpPr>
        <p:spPr>
          <a:xfrm>
            <a:off x="5230368" y="3099816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30368" y="3099816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Yes</a:t>
            </a:r>
            <a:endParaRPr sz="1400"/>
          </a:p>
        </p:txBody>
      </p:sp>
      <p:sp>
        <p:nvSpPr>
          <p:cNvPr id="44" name="Rectangle 43"/>
          <p:cNvSpPr/>
          <p:nvPr/>
        </p:nvSpPr>
        <p:spPr>
          <a:xfrm>
            <a:off x="7296912" y="3099816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96912" y="3099816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Yes</a:t>
            </a:r>
            <a:endParaRPr sz="1400"/>
          </a:p>
        </p:txBody>
      </p:sp>
      <p:sp>
        <p:nvSpPr>
          <p:cNvPr id="46" name="Rectangle 45"/>
          <p:cNvSpPr/>
          <p:nvPr/>
        </p:nvSpPr>
        <p:spPr>
          <a:xfrm>
            <a:off x="9363456" y="3099816"/>
            <a:ext cx="2368296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3456" y="3099816"/>
            <a:ext cx="236829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✅ Predicted by ML</a:t>
            </a:r>
            <a:endParaRPr sz="1400"/>
          </a:p>
        </p:txBody>
      </p:sp>
      <p:sp>
        <p:nvSpPr>
          <p:cNvPr id="48" name="Rectangle 47"/>
          <p:cNvSpPr/>
          <p:nvPr/>
        </p:nvSpPr>
        <p:spPr>
          <a:xfrm>
            <a:off x="457200" y="3630168"/>
            <a:ext cx="265176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630168"/>
            <a:ext cx="265176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Adaptability</a:t>
            </a:r>
            <a:endParaRPr sz="1400"/>
          </a:p>
        </p:txBody>
      </p:sp>
      <p:sp>
        <p:nvSpPr>
          <p:cNvPr id="50" name="Rectangle 49"/>
          <p:cNvSpPr/>
          <p:nvPr/>
        </p:nvSpPr>
        <p:spPr>
          <a:xfrm>
            <a:off x="3163824" y="3630168"/>
            <a:ext cx="201168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63824" y="3630168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❌ Static</a:t>
            </a:r>
            <a:endParaRPr sz="1400"/>
          </a:p>
        </p:txBody>
      </p:sp>
      <p:sp>
        <p:nvSpPr>
          <p:cNvPr id="52" name="Rectangle 51"/>
          <p:cNvSpPr/>
          <p:nvPr/>
        </p:nvSpPr>
        <p:spPr>
          <a:xfrm>
            <a:off x="5230368" y="3630168"/>
            <a:ext cx="201168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30368" y="3630168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❌ Static</a:t>
            </a:r>
            <a:endParaRPr sz="1400"/>
          </a:p>
        </p:txBody>
      </p:sp>
      <p:sp>
        <p:nvSpPr>
          <p:cNvPr id="54" name="Rectangle 53"/>
          <p:cNvSpPr/>
          <p:nvPr/>
        </p:nvSpPr>
        <p:spPr>
          <a:xfrm>
            <a:off x="7296912" y="3630168"/>
            <a:ext cx="2011680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96912" y="3630168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❌ Static</a:t>
            </a:r>
            <a:endParaRPr sz="1400"/>
          </a:p>
        </p:txBody>
      </p:sp>
      <p:sp>
        <p:nvSpPr>
          <p:cNvPr id="56" name="Rectangle 55"/>
          <p:cNvSpPr/>
          <p:nvPr/>
        </p:nvSpPr>
        <p:spPr>
          <a:xfrm>
            <a:off x="9363456" y="3630168"/>
            <a:ext cx="2368296" cy="475488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63456" y="3630168"/>
            <a:ext cx="236829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✅ Learns Dynamically</a:t>
            </a:r>
            <a:endParaRPr sz="1400"/>
          </a:p>
        </p:txBody>
      </p:sp>
      <p:sp>
        <p:nvSpPr>
          <p:cNvPr id="58" name="Rectangle 57"/>
          <p:cNvSpPr/>
          <p:nvPr/>
        </p:nvSpPr>
        <p:spPr>
          <a:xfrm>
            <a:off x="457200" y="4160520"/>
            <a:ext cx="265176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4160520"/>
            <a:ext cx="265176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Preemptive?</a:t>
            </a:r>
            <a:endParaRPr sz="1400"/>
          </a:p>
        </p:txBody>
      </p:sp>
      <p:sp>
        <p:nvSpPr>
          <p:cNvPr id="60" name="Rectangle 59"/>
          <p:cNvSpPr/>
          <p:nvPr/>
        </p:nvSpPr>
        <p:spPr>
          <a:xfrm>
            <a:off x="3163824" y="4160520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163824" y="4160520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No</a:t>
            </a:r>
            <a:endParaRPr sz="1400"/>
          </a:p>
        </p:txBody>
      </p:sp>
      <p:sp>
        <p:nvSpPr>
          <p:cNvPr id="62" name="Rectangle 61"/>
          <p:cNvSpPr/>
          <p:nvPr/>
        </p:nvSpPr>
        <p:spPr>
          <a:xfrm>
            <a:off x="5230368" y="4160520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30368" y="4160520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No</a:t>
            </a:r>
            <a:endParaRPr sz="1400"/>
          </a:p>
        </p:txBody>
      </p:sp>
      <p:sp>
        <p:nvSpPr>
          <p:cNvPr id="64" name="Rectangle 63"/>
          <p:cNvSpPr/>
          <p:nvPr/>
        </p:nvSpPr>
        <p:spPr>
          <a:xfrm>
            <a:off x="7296912" y="4160520"/>
            <a:ext cx="2011680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96912" y="4160520"/>
            <a:ext cx="20116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Yes</a:t>
            </a:r>
            <a:endParaRPr sz="1400"/>
          </a:p>
        </p:txBody>
      </p:sp>
      <p:sp>
        <p:nvSpPr>
          <p:cNvPr id="66" name="Rectangle 65"/>
          <p:cNvSpPr/>
          <p:nvPr/>
        </p:nvSpPr>
        <p:spPr>
          <a:xfrm>
            <a:off x="9363456" y="4160520"/>
            <a:ext cx="2368296" cy="47548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63456" y="4160520"/>
            <a:ext cx="2368296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✅ Agent-Controlled</a:t>
            </a:r>
            <a:endParaRPr sz="1400"/>
          </a:p>
        </p:txBody>
      </p:sp>
      <p:sp>
        <p:nvSpPr>
          <p:cNvPr id="68" name="Rectangle 67"/>
          <p:cNvSpPr/>
          <p:nvPr/>
        </p:nvSpPr>
        <p:spPr>
          <a:xfrm>
            <a:off x="457200" y="4910328"/>
            <a:ext cx="11274552" cy="1216152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4360" y="5020056"/>
            <a:ext cx="11000232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🏆  Hybrid ML + RL Improvement</a:t>
            </a:r>
            <a:endParaRPr sz="1600"/>
          </a:p>
        </p:txBody>
      </p:sp>
      <p:sp>
        <p:nvSpPr>
          <p:cNvPr id="70" name="TextBox 69"/>
          <p:cNvSpPr txBox="1"/>
          <p:nvPr/>
        </p:nvSpPr>
        <p:spPr>
          <a:xfrm>
            <a:off x="594360" y="5458968"/>
            <a:ext cx="11000232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Without ML Burst Prediction:   Avg Reward = 20.34
With ML Burst Prediction:        Avg Reward = 22.39   (+10% improvement)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1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49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7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5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83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461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39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57432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Challenges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Lessons Learned &amp; Road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43032" y="6400800"/>
            <a:ext cx="128016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10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00116" cy="3291840"/>
          </a:xfrm>
          <a:prstGeom prst="rect">
            <a:avLst/>
          </a:prstGeom>
          <a:solidFill>
            <a:srgbClr val="162B3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⚠️  Challenges Faced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5225796" cy="2523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03124" indent="-103124"/>
            <a:r>
              <a:rPr sz="1400" b="0">
                <a:solidFill>
                  <a:srgbClr val="FFFFFF"/>
                </a:solidFill>
              </a:rPr>
              <a:t>• RL performs best when all processes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arrive at T=0; varied arrival times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reduce scheduling efficiency</a:t>
            </a:r>
            <a:endParaRPr sz="1400"/>
          </a:p>
          <a:p>
            <a:endParaRPr sz="1400"/>
          </a:p>
          <a:p>
            <a:pPr marL="103124" indent="-103124"/>
            <a:r>
              <a:rPr sz="1400" b="0">
                <a:solidFill>
                  <a:srgbClr val="FFFFFF"/>
                </a:solidFill>
              </a:rPr>
              <a:t>• Context switch penalty tuning is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critical — wrong values cause the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agent to never switch processes</a:t>
            </a:r>
            <a:endParaRPr sz="1400"/>
          </a:p>
          <a:p>
            <a:endParaRPr sz="1400"/>
          </a:p>
          <a:p>
            <a:pPr marL="103124" indent="-103124"/>
            <a:r>
              <a:rPr sz="1400" b="0">
                <a:solidFill>
                  <a:srgbClr val="FFFFFF"/>
                </a:solidFill>
              </a:rPr>
              <a:t>• Hardcoded paths in original codebase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prevented cross-machine deployment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(fixed with os.path.dirname)</a:t>
            </a:r>
            <a:endParaRPr sz="1400"/>
          </a:p>
        </p:txBody>
      </p:sp>
      <p:sp>
        <p:nvSpPr>
          <p:cNvPr id="11" name="Rectangle 10"/>
          <p:cNvSpPr/>
          <p:nvPr/>
        </p:nvSpPr>
        <p:spPr>
          <a:xfrm>
            <a:off x="6231636" y="1508760"/>
            <a:ext cx="5500116" cy="32918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8796" y="1618488"/>
            <a:ext cx="5225796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🚀  Future Enhancements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6368796" y="2167128"/>
            <a:ext cx="5225796" cy="2523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03124" indent="-103124"/>
            <a:r>
              <a:rPr sz="1400" b="0">
                <a:solidFill>
                  <a:srgbClr val="FFFFFF"/>
                </a:solidFill>
              </a:rPr>
              <a:t>• Extend to Multi-Core CPU simulation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(parallel process queues per core)</a:t>
            </a:r>
            <a:endParaRPr sz="1400"/>
          </a:p>
          <a:p>
            <a:endParaRPr sz="1400"/>
          </a:p>
          <a:p>
            <a:pPr marL="103124" indent="-103124"/>
            <a:r>
              <a:rPr sz="1400" b="0">
                <a:solidFill>
                  <a:srgbClr val="FFFFFF"/>
                </a:solidFill>
              </a:rPr>
              <a:t>• Priority-aware RL policies &amp;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starvation prevention mechanisms</a:t>
            </a:r>
            <a:endParaRPr sz="1400"/>
          </a:p>
          <a:p>
            <a:endParaRPr sz="1400"/>
          </a:p>
          <a:p>
            <a:pPr marL="103124" indent="-103124"/>
            <a:r>
              <a:rPr sz="1400" b="0">
                <a:solidFill>
                  <a:srgbClr val="FFFFFF"/>
                </a:solidFill>
              </a:rPr>
              <a:t>• DQN vs PPO benchmark comparison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with training curve visualization</a:t>
            </a:r>
            <a:endParaRPr sz="1400"/>
          </a:p>
          <a:p>
            <a:endParaRPr sz="1400"/>
          </a:p>
          <a:p>
            <a:pPr marL="103124" indent="-103124"/>
            <a:r>
              <a:rPr sz="1400" b="0">
                <a:solidFill>
                  <a:srgbClr val="FFFFFF"/>
                </a:solidFill>
              </a:rPr>
              <a:t>• Live process telemetry from real OS</a:t>
            </a:r>
            <a:endParaRPr sz="1400"/>
          </a:p>
          <a:p>
            <a:r>
              <a:rPr sz="1400" b="0">
                <a:solidFill>
                  <a:srgbClr val="FFFFFF"/>
                </a:solidFill>
              </a:rPr>
              <a:t>  (psutil integration for Windows/Linux)</a:t>
            </a:r>
            <a:endParaRPr sz="1400"/>
          </a:p>
        </p:txBody>
      </p:sp>
      <p:sp>
        <p:nvSpPr>
          <p:cNvPr id="14" name="Rectangle 13"/>
          <p:cNvSpPr/>
          <p:nvPr/>
        </p:nvSpPr>
        <p:spPr>
          <a:xfrm>
            <a:off x="457200" y="5074920"/>
            <a:ext cx="11274552" cy="105156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166360"/>
            <a:ext cx="11000232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i="0">
                <a:solidFill>
                  <a:srgbClr val="008BD8"/>
                </a:solidFill>
              </a:rPr>
              <a:t>✅  Conclusion</a:t>
            </a:r>
            <a:endParaRPr sz="1500"/>
          </a:p>
        </p:txBody>
      </p:sp>
      <p:sp>
        <p:nvSpPr>
          <p:cNvPr id="16" name="TextBox 15"/>
          <p:cNvSpPr txBox="1"/>
          <p:nvPr/>
        </p:nvSpPr>
        <p:spPr>
          <a:xfrm>
            <a:off x="594360" y="5550408"/>
            <a:ext cx="11000232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Successfully demonstrated that ML + RL significantly enhances CPU scheduling over static algorithms. The hybrid system predicts burst times accurately (R²=1.0) and learns optimal scheduling policies through trial-and-error.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5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5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5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5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35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5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35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35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35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9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0" grpId="0" build="p"/>
      <p:bldP spid="11" grpId="0" animBg="1"/>
      <p:bldP spid="12" grpId="0"/>
      <p:bldP spid="13" grpId="0" build="p"/>
      <p:bldP spid="14" grpId="0" animBg="1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1268</Words>
  <Application>Microsoft Office PowerPoint</Application>
  <PresentationFormat>Custom</PresentationFormat>
  <Paragraphs>233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Kumar</cp:lastModifiedBy>
  <cp:revision>3</cp:revision>
  <dcterms:created xsi:type="dcterms:W3CDTF">2013-01-27T09:14:16Z</dcterms:created>
  <dcterms:modified xsi:type="dcterms:W3CDTF">2026-10-05T15:22:59Z</dcterms:modified>
  <cp:category/>
</cp:coreProperties>
</file>