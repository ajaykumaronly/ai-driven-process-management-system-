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4" d="100"/>
          <a:sy n="84" d="100"/>
        </p:scale>
        <p:origin x="629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008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0543032" y="6400800"/>
            <a:ext cx="1280160" cy="27432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100" b="0" i="0">
                <a:solidFill>
                  <a:srgbClr val="CCD6E0"/>
                </a:solidFill>
              </a:rPr>
              <a:t>1 / 10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" y="1005840"/>
            <a:ext cx="12124944" cy="3657600"/>
          </a:xfrm>
          <a:prstGeom prst="rect">
            <a:avLst/>
          </a:prstGeom>
          <a:solidFill>
            <a:srgbClr val="162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4008" y="1005840"/>
            <a:ext cx="54864" cy="36576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0634472" y="777240"/>
            <a:ext cx="1097280" cy="1097280"/>
          </a:xfrm>
          <a:prstGeom prst="ellipse">
            <a:avLst/>
          </a:prstGeom>
          <a:solidFill>
            <a:srgbClr val="005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0817352" y="4297680"/>
            <a:ext cx="731520" cy="731520"/>
          </a:xfrm>
          <a:prstGeom prst="ellipse">
            <a:avLst/>
          </a:prstGeom>
          <a:solidFill>
            <a:srgbClr val="0064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1527048"/>
            <a:ext cx="11274552" cy="86868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4400" b="1" i="0" dirty="0">
                <a:solidFill>
                  <a:srgbClr val="FFFFFF"/>
                </a:solidFill>
              </a:rPr>
              <a:t>AI-</a:t>
            </a:r>
            <a:r>
              <a:rPr lang="en-IN" sz="4400" b="1" i="0" dirty="0">
                <a:solidFill>
                  <a:srgbClr val="FFFFFF"/>
                </a:solidFill>
              </a:rPr>
              <a:t>Driven</a:t>
            </a:r>
            <a:r>
              <a:rPr sz="4400" b="1" i="0" dirty="0">
                <a:solidFill>
                  <a:srgbClr val="FFFFFF"/>
                </a:solidFill>
              </a:rPr>
              <a:t> Process </a:t>
            </a:r>
            <a:r>
              <a:rPr lang="en-IN" sz="4400" b="1">
                <a:solidFill>
                  <a:srgbClr val="FFFFFF"/>
                </a:solidFill>
              </a:rPr>
              <a:t>Scheduling </a:t>
            </a:r>
            <a:r>
              <a:rPr lang="en-IN" sz="4400" b="1" dirty="0">
                <a:solidFill>
                  <a:srgbClr val="FFFFFF"/>
                </a:solidFill>
              </a:rPr>
              <a:t>System</a:t>
            </a:r>
            <a:endParaRPr sz="4400" dirty="0"/>
          </a:p>
        </p:txBody>
      </p:sp>
      <p:sp>
        <p:nvSpPr>
          <p:cNvPr id="9" name="TextBox 8"/>
          <p:cNvSpPr txBox="1"/>
          <p:nvPr/>
        </p:nvSpPr>
        <p:spPr>
          <a:xfrm>
            <a:off x="457200" y="2414016"/>
            <a:ext cx="11274552" cy="4572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2000" b="0" i="0">
                <a:solidFill>
                  <a:srgbClr val="00C9A7"/>
                </a:solidFill>
              </a:rPr>
              <a:t>Enhancing CPU Scheduling using Machine Learning &amp; Reinforcement Learning</a:t>
            </a:r>
            <a:endParaRPr sz="2000"/>
          </a:p>
        </p:txBody>
      </p:sp>
      <p:sp>
        <p:nvSpPr>
          <p:cNvPr id="10" name="Rectangle 9"/>
          <p:cNvSpPr/>
          <p:nvPr/>
        </p:nvSpPr>
        <p:spPr>
          <a:xfrm>
            <a:off x="3215488" y="3127248"/>
            <a:ext cx="5760720" cy="45720"/>
          </a:xfrm>
          <a:prstGeom prst="rect">
            <a:avLst/>
          </a:prstGeom>
          <a:solidFill>
            <a:srgbClr val="008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7200" y="3310128"/>
            <a:ext cx="11274552" cy="41148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1800" b="0" i="0" dirty="0">
                <a:solidFill>
                  <a:srgbClr val="CCD6E0"/>
                </a:solidFill>
              </a:rPr>
              <a:t> Operating Systems</a:t>
            </a:r>
            <a:endParaRPr sz="1800" dirty="0"/>
          </a:p>
        </p:txBody>
      </p:sp>
      <p:sp>
        <p:nvSpPr>
          <p:cNvPr id="12" name="TextBox 11"/>
          <p:cNvSpPr txBox="1"/>
          <p:nvPr/>
        </p:nvSpPr>
        <p:spPr>
          <a:xfrm>
            <a:off x="457200" y="3721608"/>
            <a:ext cx="11274552" cy="41148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1600" b="0" i="0">
                <a:solidFill>
                  <a:srgbClr val="CCD6E0"/>
                </a:solidFill>
              </a:rPr>
              <a:t> Department of Computer Science &amp; Engineering</a:t>
            </a:r>
            <a:endParaRPr sz="1600"/>
          </a:p>
        </p:txBody>
      </p:sp>
      <p:sp>
        <p:nvSpPr>
          <p:cNvPr id="13" name="TextBox 12"/>
          <p:cNvSpPr txBox="1"/>
          <p:nvPr/>
        </p:nvSpPr>
        <p:spPr>
          <a:xfrm>
            <a:off x="484632" y="5001768"/>
            <a:ext cx="11274552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endParaRPr sz="1400" dirty="0"/>
          </a:p>
        </p:txBody>
      </p:sp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823282B7-8C2A-C224-DE25-5CB85AE62AA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54219088"/>
              </p:ext>
            </p:extLst>
          </p:nvPr>
        </p:nvGraphicFramePr>
        <p:xfrm>
          <a:off x="3439646" y="4848986"/>
          <a:ext cx="5309532" cy="16405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4766">
                  <a:extLst>
                    <a:ext uri="{9D8B030D-6E8A-4147-A177-3AD203B41FA5}">
                      <a16:colId xmlns:a16="http://schemas.microsoft.com/office/drawing/2014/main" val="2269168819"/>
                    </a:ext>
                  </a:extLst>
                </a:gridCol>
                <a:gridCol w="2654766">
                  <a:extLst>
                    <a:ext uri="{9D8B030D-6E8A-4147-A177-3AD203B41FA5}">
                      <a16:colId xmlns:a16="http://schemas.microsoft.com/office/drawing/2014/main" val="4215784328"/>
                    </a:ext>
                  </a:extLst>
                </a:gridCol>
              </a:tblGrid>
              <a:tr h="306832">
                <a:tc>
                  <a:txBody>
                    <a:bodyPr/>
                    <a:lstStyle/>
                    <a:p>
                      <a:r>
                        <a:rPr lang="en-IN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Roll no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20730618"/>
                  </a:ext>
                </a:extLst>
              </a:tr>
              <a:tr h="306832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n-IN" sz="1400" dirty="0">
                          <a:effectLst/>
                        </a:rPr>
                        <a:t>Ajay Kumar S</a:t>
                      </a:r>
                      <a:endParaRPr lang="en-IN" sz="12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9850" marR="69850" marT="44450" marB="4445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n-IN" sz="1400" dirty="0">
                          <a:solidFill>
                            <a:sysClr val="windowText" lastClr="000000"/>
                          </a:solidFill>
                          <a:effectLst/>
                        </a:rPr>
                        <a:t>2024503701</a:t>
                      </a:r>
                      <a:endParaRPr lang="en-IN" sz="1200" dirty="0">
                        <a:solidFill>
                          <a:sysClr val="windowText" lastClr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9850" marR="69850" marT="44450" marB="44450" anchor="ctr"/>
                </a:tc>
                <a:extLst>
                  <a:ext uri="{0D108BD9-81ED-4DB2-BD59-A6C34878D82A}">
                    <a16:rowId xmlns:a16="http://schemas.microsoft.com/office/drawing/2014/main" val="558307420"/>
                  </a:ext>
                </a:extLst>
              </a:tr>
              <a:tr h="306832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n-IN" sz="1400" dirty="0">
                          <a:effectLst/>
                        </a:rPr>
                        <a:t>Sudalai Kumar M</a:t>
                      </a:r>
                      <a:endParaRPr lang="en-IN" sz="12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9850" marR="69850" marT="44450" marB="4445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n-IN" sz="1400">
                          <a:effectLst/>
                        </a:rPr>
                        <a:t>2024503703</a:t>
                      </a:r>
                      <a:endParaRPr lang="en-IN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9850" marR="69850" marT="44450" marB="44450" anchor="ctr"/>
                </a:tc>
                <a:extLst>
                  <a:ext uri="{0D108BD9-81ED-4DB2-BD59-A6C34878D82A}">
                    <a16:rowId xmlns:a16="http://schemas.microsoft.com/office/drawing/2014/main" val="2423320128"/>
                  </a:ext>
                </a:extLst>
              </a:tr>
              <a:tr h="306832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n-IN" sz="1400" dirty="0">
                          <a:effectLst/>
                        </a:rPr>
                        <a:t>Srinivasan S</a:t>
                      </a:r>
                      <a:endParaRPr lang="en-IN" sz="12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9850" marR="69850" marT="44450" marB="4445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n-IN" sz="1400" dirty="0">
                          <a:effectLst/>
                        </a:rPr>
                        <a:t>2024503707</a:t>
                      </a:r>
                      <a:endParaRPr lang="en-IN" sz="12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9850" marR="69850" marT="44450" marB="44450" anchor="ctr"/>
                </a:tc>
                <a:extLst>
                  <a:ext uri="{0D108BD9-81ED-4DB2-BD59-A6C34878D82A}">
                    <a16:rowId xmlns:a16="http://schemas.microsoft.com/office/drawing/2014/main" val="2751900154"/>
                  </a:ext>
                </a:extLst>
              </a:tr>
              <a:tr h="306832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n-US" sz="1400">
                          <a:effectLst/>
                        </a:rPr>
                        <a:t>Satlas Rohit B</a:t>
                      </a:r>
                      <a:endParaRPr lang="en-IN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9850" marR="69850" marT="44450" marB="4445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n-IN" sz="1400" dirty="0">
                          <a:effectLst/>
                        </a:rPr>
                        <a:t>2024503305</a:t>
                      </a:r>
                      <a:endParaRPr lang="en-IN" sz="12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9850" marR="69850" marT="44450" marB="44450" anchor="ctr"/>
                </a:tc>
                <a:extLst>
                  <a:ext uri="{0D108BD9-81ED-4DB2-BD59-A6C34878D82A}">
                    <a16:rowId xmlns:a16="http://schemas.microsoft.com/office/drawing/2014/main" val="4144062279"/>
                  </a:ext>
                </a:extLst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6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960"/>
                            </p:stCondLst>
                            <p:childTnLst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62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18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3090"/>
                            </p:stCondLst>
                            <p:childTnLst>
                              <p:par>
                                <p:cTn id="36" presetID="10" presetClass="entr" presetSubtype="0" fill="hold" grpId="0" nodeType="after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36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/>
      <p:bldP spid="9" grpId="0"/>
      <p:bldP spid="10" grpId="0" animBg="1"/>
      <p:bldP spid="11" grpId="0"/>
      <p:bldP spid="12" grpId="0"/>
      <p:bldP spid="13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008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4008" y="0"/>
            <a:ext cx="12124944" cy="1188720"/>
          </a:xfrm>
          <a:prstGeom prst="rect">
            <a:avLst/>
          </a:prstGeom>
          <a:solidFill>
            <a:srgbClr val="162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28016"/>
            <a:ext cx="11457432" cy="566928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2800" b="1" i="0">
                <a:solidFill>
                  <a:srgbClr val="00C9A7"/>
                </a:solidFill>
              </a:rPr>
              <a:t>Problem Statement &amp; Motivation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94944"/>
            <a:ext cx="11457432" cy="347472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400" b="0" i="0">
                <a:solidFill>
                  <a:srgbClr val="CCD6E0"/>
                </a:solidFill>
              </a:rPr>
              <a:t>Why does CPU Scheduling need AI?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115568"/>
            <a:ext cx="4114800" cy="45720"/>
          </a:xfrm>
          <a:prstGeom prst="rect">
            <a:avLst/>
          </a:prstGeom>
          <a:solidFill>
            <a:srgbClr val="008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543032" y="6400800"/>
            <a:ext cx="1280160" cy="27432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100" b="0" i="0">
                <a:solidFill>
                  <a:srgbClr val="CCD6E0"/>
                </a:solidFill>
              </a:rPr>
              <a:t>2 / 10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508760"/>
            <a:ext cx="5500116" cy="2743200"/>
          </a:xfrm>
          <a:prstGeom prst="rect">
            <a:avLst/>
          </a:prstGeom>
          <a:solidFill>
            <a:srgbClr val="162B3F"/>
          </a:solidFill>
          <a:ln w="19050">
            <a:solidFill>
              <a:srgbClr val="008B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1618488"/>
            <a:ext cx="5225796" cy="420624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600" b="1" i="0">
                <a:solidFill>
                  <a:srgbClr val="00C9A7"/>
                </a:solidFill>
              </a:rPr>
              <a:t>⚙️  Traditional Scheduling Limitations</a:t>
            </a:r>
            <a:endParaRPr sz="1600"/>
          </a:p>
        </p:txBody>
      </p:sp>
      <p:sp>
        <p:nvSpPr>
          <p:cNvPr id="10" name="Rectangle 9"/>
          <p:cNvSpPr/>
          <p:nvPr/>
        </p:nvSpPr>
        <p:spPr>
          <a:xfrm>
            <a:off x="685800" y="2093976"/>
            <a:ext cx="5042916" cy="36576"/>
          </a:xfrm>
          <a:prstGeom prst="rect">
            <a:avLst/>
          </a:prstGeom>
          <a:solidFill>
            <a:srgbClr val="008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94360" y="2221992"/>
            <a:ext cx="5225796" cy="19202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117856" indent="-117856"/>
            <a:r>
              <a:rPr sz="1600" b="0">
                <a:solidFill>
                  <a:srgbClr val="FFFFFF"/>
                </a:solidFill>
              </a:rPr>
              <a:t>• FCFS, SJF &amp; Round Robin rely on</a:t>
            </a:r>
            <a:endParaRPr sz="1600"/>
          </a:p>
          <a:p>
            <a:r>
              <a:rPr sz="1600" b="0">
                <a:solidFill>
                  <a:srgbClr val="FFFFFF"/>
                </a:solidFill>
              </a:rPr>
              <a:t>  known Burst Times (BT) up front</a:t>
            </a:r>
            <a:endParaRPr sz="1600"/>
          </a:p>
          <a:p>
            <a:pPr marL="117856" indent="-117856">
              <a:spcBef>
                <a:spcPts val="600"/>
              </a:spcBef>
            </a:pPr>
            <a:r>
              <a:rPr sz="1600" b="0">
                <a:solidFill>
                  <a:srgbClr val="FFFFFF"/>
                </a:solidFill>
              </a:rPr>
              <a:t>• In reality, OS cannot predict BT</a:t>
            </a:r>
            <a:endParaRPr sz="1600"/>
          </a:p>
          <a:p>
            <a:r>
              <a:rPr sz="1600" b="0">
                <a:solidFill>
                  <a:srgbClr val="FFFFFF"/>
                </a:solidFill>
              </a:rPr>
              <a:t>  before process execution begins</a:t>
            </a:r>
            <a:endParaRPr sz="1600"/>
          </a:p>
          <a:p>
            <a:pPr marL="117856" indent="-117856">
              <a:spcBef>
                <a:spcPts val="600"/>
              </a:spcBef>
            </a:pPr>
            <a:r>
              <a:rPr sz="1600" b="0">
                <a:solidFill>
                  <a:srgbClr val="FFFFFF"/>
                </a:solidFill>
              </a:rPr>
              <a:t>• Static rules cannot adapt to dynamic</a:t>
            </a:r>
            <a:endParaRPr sz="1600"/>
          </a:p>
          <a:p>
            <a:r>
              <a:rPr sz="1600" b="0">
                <a:solidFill>
                  <a:srgbClr val="FFFFFF"/>
                </a:solidFill>
              </a:rPr>
              <a:t>  or real-time workloads</a:t>
            </a:r>
            <a:endParaRPr sz="1600"/>
          </a:p>
        </p:txBody>
      </p:sp>
      <p:sp>
        <p:nvSpPr>
          <p:cNvPr id="12" name="Rectangle 11"/>
          <p:cNvSpPr/>
          <p:nvPr/>
        </p:nvSpPr>
        <p:spPr>
          <a:xfrm>
            <a:off x="6231636" y="1508760"/>
            <a:ext cx="5500116" cy="2743200"/>
          </a:xfrm>
          <a:prstGeom prst="rect">
            <a:avLst/>
          </a:prstGeom>
          <a:solidFill>
            <a:srgbClr val="162B3F"/>
          </a:solidFill>
          <a:ln w="19050">
            <a:solidFill>
              <a:srgbClr val="008B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368796" y="1618488"/>
            <a:ext cx="5225796" cy="420624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600" b="1" i="0">
                <a:solidFill>
                  <a:srgbClr val="00C9A7"/>
                </a:solidFill>
              </a:rPr>
              <a:t>🧠  Why Bring AI into Scheduling?</a:t>
            </a:r>
            <a:endParaRPr sz="1600"/>
          </a:p>
        </p:txBody>
      </p:sp>
      <p:sp>
        <p:nvSpPr>
          <p:cNvPr id="14" name="Rectangle 13"/>
          <p:cNvSpPr/>
          <p:nvPr/>
        </p:nvSpPr>
        <p:spPr>
          <a:xfrm>
            <a:off x="6460236" y="2093976"/>
            <a:ext cx="5042916" cy="36576"/>
          </a:xfrm>
          <a:prstGeom prst="rect">
            <a:avLst/>
          </a:prstGeom>
          <a:solidFill>
            <a:srgbClr val="008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68796" y="2221992"/>
            <a:ext cx="5225796" cy="19202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117856" indent="-117856"/>
            <a:r>
              <a:rPr sz="1600" b="0">
                <a:solidFill>
                  <a:srgbClr val="FFFFFF"/>
                </a:solidFill>
              </a:rPr>
              <a:t>• Processes emit real-time telemetry:</a:t>
            </a:r>
            <a:endParaRPr sz="1600"/>
          </a:p>
          <a:p>
            <a:r>
              <a:rPr sz="1600" b="0">
                <a:solidFill>
                  <a:srgbClr val="FFFFFF"/>
                </a:solidFill>
              </a:rPr>
              <a:t>  CPU %, I/O Bytes, Context Switches</a:t>
            </a:r>
            <a:endParaRPr sz="1600"/>
          </a:p>
          <a:p>
            <a:pPr marL="117856" indent="-117856">
              <a:spcBef>
                <a:spcPts val="600"/>
              </a:spcBef>
            </a:pPr>
            <a:r>
              <a:rPr sz="1600" b="0">
                <a:solidFill>
                  <a:srgbClr val="FFFFFF"/>
                </a:solidFill>
              </a:rPr>
              <a:t>• ML can PREDICT burst time from</a:t>
            </a:r>
            <a:endParaRPr sz="1600"/>
          </a:p>
          <a:p>
            <a:r>
              <a:rPr sz="1600" b="0">
                <a:solidFill>
                  <a:srgbClr val="FFFFFF"/>
                </a:solidFill>
              </a:rPr>
              <a:t>  these signals before scheduling</a:t>
            </a:r>
            <a:endParaRPr sz="1600"/>
          </a:p>
          <a:p>
            <a:pPr marL="117856" indent="-117856">
              <a:spcBef>
                <a:spcPts val="600"/>
              </a:spcBef>
            </a:pPr>
            <a:r>
              <a:rPr sz="1600" b="0">
                <a:solidFill>
                  <a:srgbClr val="FFFFFF"/>
                </a:solidFill>
              </a:rPr>
              <a:t>• RL can LEARN optimal switching</a:t>
            </a:r>
            <a:endParaRPr sz="1600"/>
          </a:p>
          <a:p>
            <a:r>
              <a:rPr sz="1600" b="0">
                <a:solidFill>
                  <a:srgbClr val="FFFFFF"/>
                </a:solidFill>
              </a:rPr>
              <a:t>  decisions dynamically at runtime</a:t>
            </a:r>
            <a:endParaRPr sz="1600"/>
          </a:p>
        </p:txBody>
      </p:sp>
      <p:sp>
        <p:nvSpPr>
          <p:cNvPr id="18" name="Key Goal Panel"/>
          <p:cNvSpPr/>
          <p:nvPr/>
        </p:nvSpPr>
        <p:spPr>
          <a:xfrm>
            <a:off x="457200" y="4526280"/>
            <a:ext cx="11274552" cy="1554480"/>
          </a:xfrm>
          <a:prstGeom prst="rect">
            <a:avLst/>
          </a:prstGeom>
          <a:solidFill>
            <a:srgbClr val="162B3F"/>
          </a:solidFill>
          <a:ln w="19050">
            <a:solidFill>
              <a:srgbClr val="008B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94360" y="4654296"/>
            <a:ext cx="11000232" cy="41148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800" b="1" i="0">
                <a:solidFill>
                  <a:srgbClr val="00C9A7"/>
                </a:solidFill>
              </a:rPr>
              <a:t>Key Goal:</a:t>
            </a:r>
            <a:endParaRPr sz="1800"/>
          </a:p>
        </p:txBody>
      </p:sp>
      <p:sp>
        <p:nvSpPr>
          <p:cNvPr id="17" name="TextBox 16"/>
          <p:cNvSpPr txBox="1"/>
          <p:nvPr/>
        </p:nvSpPr>
        <p:spPr>
          <a:xfrm>
            <a:off x="594360" y="5093208"/>
            <a:ext cx="11000232" cy="859536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</a:rPr>
              <a:t>Build a system that predicts CPU burst time using ML and optimizes process scheduling using Reinforcement Learning — outperforming traditional algorithms.</a:t>
            </a:r>
            <a:endParaRPr sz="180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6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65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8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ntr" presetSubtype="8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350"/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grpId="0" nodeType="click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350"/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350"/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350"/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350"/>
                                        <p:tgtEl>
                                          <p:spTgt spid="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2" presetClass="entr" presetSubtype="8" fill="hold" grpId="0" nodeType="click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350"/>
                                        <p:tgtEl>
                                          <p:spTgt spid="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22" presetClass="entr" presetSubtype="8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22" presetClass="entr" presetSubtype="8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350"/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8" fill="hold" grpId="0" nodeType="click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350"/>
                                        <p:tgtEl>
                                          <p:spTgt spid="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22" presetClass="entr" presetSubtype="8" fill="hold" grpId="0" nodeType="click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350"/>
                                        <p:tgtEl>
                                          <p:spTgt spid="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2" presetClass="entr" presetSubtype="8" fill="hold" grpId="0" nodeType="click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5" dur="350"/>
                                        <p:tgtEl>
                                          <p:spTgt spid="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22" presetClass="entr" presetSubtype="8" fill="hold" grpId="0" nodeType="click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0" dur="350"/>
                                        <p:tgtEl>
                                          <p:spTgt spid="1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22" presetClass="entr" presetSubtype="8" fill="hold" grpId="0" nodeType="click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5" dur="350"/>
                                        <p:tgtEl>
                                          <p:spTgt spid="1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6" fill="hold">
                            <p:stCondLst>
                              <p:cond delay="900"/>
                            </p:stCondLst>
                            <p:childTnLst>
                              <p:par>
                                <p:cTn id="8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8" grpId="0" animBg="1"/>
      <p:bldP spid="9" grpId="0"/>
      <p:bldP spid="10" grpId="0" animBg="1"/>
      <p:bldP spid="11" grpId="0" build="p"/>
      <p:bldP spid="12" grpId="0" animBg="1"/>
      <p:bldP spid="13" grpId="0"/>
      <p:bldP spid="14" grpId="0" animBg="1"/>
      <p:bldP spid="15" grpId="0" build="p"/>
      <p:bldP spid="18" grpId="0" animBg="1"/>
      <p:bldP spid="16" grpId="0"/>
      <p:bldP spid="17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008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4008" y="0"/>
            <a:ext cx="12124944" cy="1188720"/>
          </a:xfrm>
          <a:prstGeom prst="rect">
            <a:avLst/>
          </a:prstGeom>
          <a:solidFill>
            <a:srgbClr val="162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28016"/>
            <a:ext cx="11457432" cy="566928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2800" b="1" i="0">
                <a:solidFill>
                  <a:srgbClr val="00C9A7"/>
                </a:solidFill>
              </a:rPr>
              <a:t>Project 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94944"/>
            <a:ext cx="11457432" cy="347472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400" b="0" i="0">
                <a:solidFill>
                  <a:srgbClr val="CCD6E0"/>
                </a:solidFill>
              </a:rPr>
              <a:t>Four core goals of this system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115568"/>
            <a:ext cx="4114800" cy="45720"/>
          </a:xfrm>
          <a:prstGeom prst="rect">
            <a:avLst/>
          </a:prstGeom>
          <a:solidFill>
            <a:srgbClr val="008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543032" y="6400800"/>
            <a:ext cx="1280160" cy="27432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100" b="0" i="0">
                <a:solidFill>
                  <a:srgbClr val="CCD6E0"/>
                </a:solidFill>
              </a:rPr>
              <a:t>3 / 10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508760"/>
            <a:ext cx="2612898" cy="3566160"/>
          </a:xfrm>
          <a:prstGeom prst="rect">
            <a:avLst/>
          </a:prstGeom>
          <a:solidFill>
            <a:srgbClr val="162B3F"/>
          </a:solidFill>
          <a:ln w="19050">
            <a:solidFill>
              <a:srgbClr val="00C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40" y="1645920"/>
            <a:ext cx="2430018" cy="64008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3400" b="1" i="0">
                <a:solidFill>
                  <a:srgbClr val="008BD8"/>
                </a:solidFill>
              </a:rPr>
              <a:t>01</a:t>
            </a:r>
            <a:endParaRPr sz="3400"/>
          </a:p>
        </p:txBody>
      </p:sp>
      <p:sp>
        <p:nvSpPr>
          <p:cNvPr id="10" name="Rectangle 9"/>
          <p:cNvSpPr/>
          <p:nvPr/>
        </p:nvSpPr>
        <p:spPr>
          <a:xfrm>
            <a:off x="640080" y="2377440"/>
            <a:ext cx="2247138" cy="36576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48640" y="2487168"/>
            <a:ext cx="2430018" cy="4572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500" b="1" i="0">
                <a:solidFill>
                  <a:srgbClr val="00C9A7"/>
                </a:solidFill>
              </a:rPr>
              <a:t>Burst Time Prediction</a:t>
            </a:r>
            <a:endParaRPr sz="1500"/>
          </a:p>
        </p:txBody>
      </p:sp>
      <p:sp>
        <p:nvSpPr>
          <p:cNvPr id="12" name="TextBox 11"/>
          <p:cNvSpPr txBox="1"/>
          <p:nvPr/>
        </p:nvSpPr>
        <p:spPr>
          <a:xfrm>
            <a:off x="548640" y="3017520"/>
            <a:ext cx="2430018" cy="19202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CCD6E0"/>
                </a:solidFill>
              </a:rPr>
              <a:t>Use Random Forest Regressor to predict CPU burst time
from real-time process telemetry (I/O, CPU %, switches)</a:t>
            </a:r>
            <a:endParaRPr sz="1400"/>
          </a:p>
        </p:txBody>
      </p:sp>
      <p:sp>
        <p:nvSpPr>
          <p:cNvPr id="13" name="Rectangle 12"/>
          <p:cNvSpPr/>
          <p:nvPr/>
        </p:nvSpPr>
        <p:spPr>
          <a:xfrm>
            <a:off x="3344418" y="1508760"/>
            <a:ext cx="2612898" cy="3566160"/>
          </a:xfrm>
          <a:prstGeom prst="rect">
            <a:avLst/>
          </a:prstGeom>
          <a:solidFill>
            <a:srgbClr val="162B3F"/>
          </a:solidFill>
          <a:ln w="19050">
            <a:solidFill>
              <a:srgbClr val="00C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435858" y="1645920"/>
            <a:ext cx="2430018" cy="64008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3400" b="1" i="0">
                <a:solidFill>
                  <a:srgbClr val="008BD8"/>
                </a:solidFill>
              </a:rPr>
              <a:t>02</a:t>
            </a:r>
            <a:endParaRPr sz="3400"/>
          </a:p>
        </p:txBody>
      </p:sp>
      <p:sp>
        <p:nvSpPr>
          <p:cNvPr id="15" name="Rectangle 14"/>
          <p:cNvSpPr/>
          <p:nvPr/>
        </p:nvSpPr>
        <p:spPr>
          <a:xfrm>
            <a:off x="3527298" y="2377440"/>
            <a:ext cx="2247138" cy="36576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435858" y="2487168"/>
            <a:ext cx="2430018" cy="4572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500" b="1" i="0">
                <a:solidFill>
                  <a:srgbClr val="00C9A7"/>
                </a:solidFill>
              </a:rPr>
              <a:t>Intelligent CPU Scheduling</a:t>
            </a:r>
            <a:endParaRPr sz="1500"/>
          </a:p>
        </p:txBody>
      </p:sp>
      <p:sp>
        <p:nvSpPr>
          <p:cNvPr id="17" name="TextBox 16"/>
          <p:cNvSpPr txBox="1"/>
          <p:nvPr/>
        </p:nvSpPr>
        <p:spPr>
          <a:xfrm>
            <a:off x="3435858" y="3017520"/>
            <a:ext cx="2430018" cy="19202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CCD6E0"/>
                </a:solidFill>
              </a:rPr>
              <a:t>Train a PPO Reinforcement Learning agent to make
dynamic context-switch decisions at runtime</a:t>
            </a:r>
            <a:endParaRPr sz="1400"/>
          </a:p>
        </p:txBody>
      </p:sp>
      <p:sp>
        <p:nvSpPr>
          <p:cNvPr id="18" name="Rectangle 17"/>
          <p:cNvSpPr/>
          <p:nvPr/>
        </p:nvSpPr>
        <p:spPr>
          <a:xfrm>
            <a:off x="6231636" y="1508760"/>
            <a:ext cx="2612898" cy="3566160"/>
          </a:xfrm>
          <a:prstGeom prst="rect">
            <a:avLst/>
          </a:prstGeom>
          <a:solidFill>
            <a:srgbClr val="162B3F"/>
          </a:solidFill>
          <a:ln w="19050">
            <a:solidFill>
              <a:srgbClr val="00C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323076" y="1645920"/>
            <a:ext cx="2430018" cy="64008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3400" b="1" i="0">
                <a:solidFill>
                  <a:srgbClr val="008BD8"/>
                </a:solidFill>
              </a:rPr>
              <a:t>03</a:t>
            </a:r>
            <a:endParaRPr sz="3400"/>
          </a:p>
        </p:txBody>
      </p:sp>
      <p:sp>
        <p:nvSpPr>
          <p:cNvPr id="20" name="Rectangle 19"/>
          <p:cNvSpPr/>
          <p:nvPr/>
        </p:nvSpPr>
        <p:spPr>
          <a:xfrm>
            <a:off x="6414516" y="2377440"/>
            <a:ext cx="2247138" cy="36576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323076" y="2487168"/>
            <a:ext cx="2430018" cy="4572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500" b="1" i="0">
                <a:solidFill>
                  <a:srgbClr val="00C9A7"/>
                </a:solidFill>
              </a:rPr>
              <a:t>Performance Comparison</a:t>
            </a:r>
            <a:endParaRPr sz="1500"/>
          </a:p>
        </p:txBody>
      </p:sp>
      <p:sp>
        <p:nvSpPr>
          <p:cNvPr id="22" name="TextBox 21"/>
          <p:cNvSpPr txBox="1"/>
          <p:nvPr/>
        </p:nvSpPr>
        <p:spPr>
          <a:xfrm>
            <a:off x="6323076" y="3017520"/>
            <a:ext cx="2430018" cy="19202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CCD6E0"/>
                </a:solidFill>
              </a:rPr>
              <a:t>Benchmark AI scheduler against FCFS, SJF, Round Robin
using WT, TAT, Throughput &amp; CPU Utilization</a:t>
            </a:r>
            <a:endParaRPr sz="1400"/>
          </a:p>
        </p:txBody>
      </p:sp>
      <p:sp>
        <p:nvSpPr>
          <p:cNvPr id="23" name="Rectangle 22"/>
          <p:cNvSpPr/>
          <p:nvPr/>
        </p:nvSpPr>
        <p:spPr>
          <a:xfrm>
            <a:off x="9118854" y="1508760"/>
            <a:ext cx="2612898" cy="3566160"/>
          </a:xfrm>
          <a:prstGeom prst="rect">
            <a:avLst/>
          </a:prstGeom>
          <a:solidFill>
            <a:srgbClr val="162B3F"/>
          </a:solidFill>
          <a:ln w="19050">
            <a:solidFill>
              <a:srgbClr val="00C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210294" y="1645920"/>
            <a:ext cx="2430018" cy="64008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3400" b="1" i="0">
                <a:solidFill>
                  <a:srgbClr val="008BD8"/>
                </a:solidFill>
              </a:rPr>
              <a:t>04</a:t>
            </a:r>
            <a:endParaRPr sz="3400"/>
          </a:p>
        </p:txBody>
      </p:sp>
      <p:sp>
        <p:nvSpPr>
          <p:cNvPr id="25" name="Rectangle 24"/>
          <p:cNvSpPr/>
          <p:nvPr/>
        </p:nvSpPr>
        <p:spPr>
          <a:xfrm>
            <a:off x="9301734" y="2377440"/>
            <a:ext cx="2247138" cy="36576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210294" y="2487168"/>
            <a:ext cx="2430018" cy="4572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500" b="1" i="0">
                <a:solidFill>
                  <a:srgbClr val="00C9A7"/>
                </a:solidFill>
              </a:rPr>
              <a:t>Interactive Web Interface</a:t>
            </a:r>
            <a:endParaRPr sz="1500"/>
          </a:p>
        </p:txBody>
      </p:sp>
      <p:sp>
        <p:nvSpPr>
          <p:cNvPr id="27" name="TextBox 26"/>
          <p:cNvSpPr txBox="1"/>
          <p:nvPr/>
        </p:nvSpPr>
        <p:spPr>
          <a:xfrm>
            <a:off x="9210294" y="3017520"/>
            <a:ext cx="2430018" cy="19202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CCD6E0"/>
                </a:solidFill>
              </a:rPr>
              <a:t>Build a Flask-based UI for real-time simulation of
both traditional and AI-powered schedulers</a:t>
            </a:r>
            <a:endParaRPr sz="140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6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71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8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2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8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2330"/>
                            </p:stCondLst>
                            <p:childTnLst>
                              <p:par>
                                <p:cTn id="4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22" presetClass="entr" presetSubtype="8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3140"/>
                            </p:stCondLst>
                            <p:childTnLst>
                              <p:par>
                                <p:cTn id="6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22" presetClass="entr" presetSubtype="8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8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8" grpId="0" animBg="1"/>
      <p:bldP spid="9" grpId="0"/>
      <p:bldP spid="10" grpId="0" animBg="1"/>
      <p:bldP spid="11" grpId="0"/>
      <p:bldP spid="12" grpId="0"/>
      <p:bldP spid="13" grpId="0" animBg="1"/>
      <p:bldP spid="14" grpId="0"/>
      <p:bldP spid="15" grpId="0" animBg="1"/>
      <p:bldP spid="16" grpId="0"/>
      <p:bldP spid="17" grpId="0"/>
      <p:bldP spid="18" grpId="0" animBg="1"/>
      <p:bldP spid="19" grpId="0"/>
      <p:bldP spid="20" grpId="0" animBg="1"/>
      <p:bldP spid="21" grpId="0"/>
      <p:bldP spid="22" grpId="0"/>
      <p:bldP spid="23" grpId="0" animBg="1"/>
      <p:bldP spid="24" grpId="0"/>
      <p:bldP spid="25" grpId="0" animBg="1"/>
      <p:bldP spid="26" grpId="0"/>
      <p:bldP spid="27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008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4008" y="0"/>
            <a:ext cx="12124944" cy="1188720"/>
          </a:xfrm>
          <a:prstGeom prst="rect">
            <a:avLst/>
          </a:prstGeom>
          <a:solidFill>
            <a:srgbClr val="162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28016"/>
            <a:ext cx="11457432" cy="566928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2800" b="1" i="0">
                <a:solidFill>
                  <a:srgbClr val="00C9A7"/>
                </a:solidFill>
              </a:rPr>
              <a:t>System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94944"/>
            <a:ext cx="11457432" cy="347472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400" b="0" i="0">
                <a:solidFill>
                  <a:srgbClr val="CCD6E0"/>
                </a:solidFill>
              </a:rPr>
              <a:t>End-to-End AI Scheduling Pipeline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115568"/>
            <a:ext cx="4114800" cy="45720"/>
          </a:xfrm>
          <a:prstGeom prst="rect">
            <a:avLst/>
          </a:prstGeom>
          <a:solidFill>
            <a:srgbClr val="008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543032" y="6400800"/>
            <a:ext cx="1280160" cy="27432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100" b="0" i="0">
                <a:solidFill>
                  <a:srgbClr val="CCD6E0"/>
                </a:solidFill>
              </a:rPr>
              <a:t>4 / 10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508760"/>
            <a:ext cx="3331464" cy="1508760"/>
          </a:xfrm>
          <a:prstGeom prst="rect">
            <a:avLst/>
          </a:prstGeom>
          <a:solidFill>
            <a:srgbClr val="162B3F"/>
          </a:solidFill>
          <a:ln w="22860">
            <a:solidFill>
              <a:srgbClr val="00C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1636776"/>
            <a:ext cx="3057144" cy="384048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500" b="1" i="0">
                <a:solidFill>
                  <a:srgbClr val="00C9A7"/>
                </a:solidFill>
              </a:rPr>
              <a:t>🖥️  Web Frontend</a:t>
            </a:r>
            <a:endParaRPr sz="1500"/>
          </a:p>
        </p:txBody>
      </p:sp>
      <p:sp>
        <p:nvSpPr>
          <p:cNvPr id="10" name="TextBox 9"/>
          <p:cNvSpPr txBox="1"/>
          <p:nvPr/>
        </p:nvSpPr>
        <p:spPr>
          <a:xfrm>
            <a:off x="594360" y="2075688"/>
            <a:ext cx="3057144" cy="850392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350" b="0" i="0">
                <a:solidFill>
                  <a:srgbClr val="CCD6E0"/>
                </a:solidFill>
              </a:rPr>
              <a:t>HTML + Bootstrap + JavaScript
User inputs process telemetry</a:t>
            </a:r>
            <a:endParaRPr sz="1350"/>
          </a:p>
        </p:txBody>
      </p:sp>
      <p:sp>
        <p:nvSpPr>
          <p:cNvPr id="11" name="Rectangle 10"/>
          <p:cNvSpPr/>
          <p:nvPr/>
        </p:nvSpPr>
        <p:spPr>
          <a:xfrm>
            <a:off x="4428744" y="1508760"/>
            <a:ext cx="3331464" cy="1508760"/>
          </a:xfrm>
          <a:prstGeom prst="rect">
            <a:avLst/>
          </a:prstGeom>
          <a:solidFill>
            <a:srgbClr val="162B3F"/>
          </a:solidFill>
          <a:ln w="22860">
            <a:solidFill>
              <a:srgbClr val="008B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65904" y="1636776"/>
            <a:ext cx="3057144" cy="384048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500" b="1" i="0">
                <a:solidFill>
                  <a:srgbClr val="008BD8"/>
                </a:solidFill>
              </a:rPr>
              <a:t>⚗️  Flask Backend</a:t>
            </a:r>
            <a:endParaRPr sz="1500"/>
          </a:p>
        </p:txBody>
      </p:sp>
      <p:sp>
        <p:nvSpPr>
          <p:cNvPr id="13" name="TextBox 12"/>
          <p:cNvSpPr txBox="1"/>
          <p:nvPr/>
        </p:nvSpPr>
        <p:spPr>
          <a:xfrm>
            <a:off x="4565904" y="2075688"/>
            <a:ext cx="3057144" cy="850392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350" b="0" i="0">
                <a:solidFill>
                  <a:srgbClr val="CCD6E0"/>
                </a:solidFill>
              </a:rPr>
              <a:t>Python REST API (/schedule)
Receives JSON process data</a:t>
            </a:r>
            <a:endParaRPr sz="1350"/>
          </a:p>
        </p:txBody>
      </p:sp>
      <p:sp>
        <p:nvSpPr>
          <p:cNvPr id="14" name="Rectangle 13"/>
          <p:cNvSpPr/>
          <p:nvPr/>
        </p:nvSpPr>
        <p:spPr>
          <a:xfrm>
            <a:off x="8400288" y="1508760"/>
            <a:ext cx="3331464" cy="1508760"/>
          </a:xfrm>
          <a:prstGeom prst="rect">
            <a:avLst/>
          </a:prstGeom>
          <a:solidFill>
            <a:srgbClr val="162B3F"/>
          </a:solidFill>
          <a:ln w="22860">
            <a:solidFill>
              <a:srgbClr val="FFD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537448" y="1636776"/>
            <a:ext cx="3057144" cy="384048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500" b="1" i="0">
                <a:solidFill>
                  <a:srgbClr val="FFD600"/>
                </a:solidFill>
              </a:rPr>
              <a:t>🤖  ML Prediction</a:t>
            </a:r>
            <a:endParaRPr sz="1500"/>
          </a:p>
        </p:txBody>
      </p:sp>
      <p:sp>
        <p:nvSpPr>
          <p:cNvPr id="16" name="TextBox 15"/>
          <p:cNvSpPr txBox="1"/>
          <p:nvPr/>
        </p:nvSpPr>
        <p:spPr>
          <a:xfrm>
            <a:off x="8537448" y="2075688"/>
            <a:ext cx="3057144" cy="850392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350" b="0" i="0">
                <a:solidFill>
                  <a:srgbClr val="CCD6E0"/>
                </a:solidFill>
              </a:rPr>
              <a:t>Random Forest Regressor
Predicts Burst Time per process</a:t>
            </a:r>
            <a:endParaRPr sz="1350"/>
          </a:p>
        </p:txBody>
      </p:sp>
      <p:sp>
        <p:nvSpPr>
          <p:cNvPr id="17" name="Rectangle 16"/>
          <p:cNvSpPr/>
          <p:nvPr/>
        </p:nvSpPr>
        <p:spPr>
          <a:xfrm>
            <a:off x="457200" y="3520440"/>
            <a:ext cx="3331464" cy="1508760"/>
          </a:xfrm>
          <a:prstGeom prst="rect">
            <a:avLst/>
          </a:prstGeom>
          <a:solidFill>
            <a:srgbClr val="162B3F"/>
          </a:solidFill>
          <a:ln w="22860">
            <a:solidFill>
              <a:srgbClr val="00C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94360" y="3648456"/>
            <a:ext cx="3057144" cy="384048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500" b="1" i="0">
                <a:solidFill>
                  <a:srgbClr val="00C9A7"/>
                </a:solidFill>
              </a:rPr>
              <a:t>🧠  RL Scheduler</a:t>
            </a:r>
            <a:endParaRPr sz="1500"/>
          </a:p>
        </p:txBody>
      </p:sp>
      <p:sp>
        <p:nvSpPr>
          <p:cNvPr id="19" name="TextBox 18"/>
          <p:cNvSpPr txBox="1"/>
          <p:nvPr/>
        </p:nvSpPr>
        <p:spPr>
          <a:xfrm>
            <a:off x="594360" y="4087368"/>
            <a:ext cx="3057144" cy="850392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350" b="0" i="0">
                <a:solidFill>
                  <a:srgbClr val="CCD6E0"/>
                </a:solidFill>
              </a:rPr>
              <a:t>PPO Agent (stable-baselines3)
Decides: Continue or Switch</a:t>
            </a:r>
            <a:endParaRPr sz="1350"/>
          </a:p>
        </p:txBody>
      </p:sp>
      <p:sp>
        <p:nvSpPr>
          <p:cNvPr id="20" name="Rectangle 19"/>
          <p:cNvSpPr/>
          <p:nvPr/>
        </p:nvSpPr>
        <p:spPr>
          <a:xfrm>
            <a:off x="4428744" y="3520440"/>
            <a:ext cx="3331464" cy="1508760"/>
          </a:xfrm>
          <a:prstGeom prst="rect">
            <a:avLst/>
          </a:prstGeom>
          <a:solidFill>
            <a:srgbClr val="162B3F"/>
          </a:solidFill>
          <a:ln w="22860">
            <a:solidFill>
              <a:srgbClr val="008B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565904" y="3648456"/>
            <a:ext cx="3057144" cy="384048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500" b="1" i="0">
                <a:solidFill>
                  <a:srgbClr val="008BD8"/>
                </a:solidFill>
              </a:rPr>
              <a:t>📊  Output Metrics</a:t>
            </a:r>
            <a:endParaRPr sz="1500"/>
          </a:p>
        </p:txBody>
      </p:sp>
      <p:sp>
        <p:nvSpPr>
          <p:cNvPr id="22" name="TextBox 21"/>
          <p:cNvSpPr txBox="1"/>
          <p:nvPr/>
        </p:nvSpPr>
        <p:spPr>
          <a:xfrm>
            <a:off x="4565904" y="4087368"/>
            <a:ext cx="3057144" cy="850392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350" b="0" i="0">
                <a:solidFill>
                  <a:srgbClr val="CCD6E0"/>
                </a:solidFill>
              </a:rPr>
              <a:t>WT, TAT, Throughput,
CPU Utilization returned</a:t>
            </a:r>
            <a:endParaRPr sz="1350"/>
          </a:p>
        </p:txBody>
      </p:sp>
      <p:sp>
        <p:nvSpPr>
          <p:cNvPr id="23" name="Rectangle 22"/>
          <p:cNvSpPr/>
          <p:nvPr/>
        </p:nvSpPr>
        <p:spPr>
          <a:xfrm>
            <a:off x="8400288" y="3520440"/>
            <a:ext cx="3331464" cy="1508760"/>
          </a:xfrm>
          <a:prstGeom prst="rect">
            <a:avLst/>
          </a:prstGeom>
          <a:solidFill>
            <a:srgbClr val="162B3F"/>
          </a:solidFill>
          <a:ln w="22860">
            <a:solidFill>
              <a:srgbClr val="FFD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537448" y="3648456"/>
            <a:ext cx="3057144" cy="384048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500" b="1" i="0">
                <a:solidFill>
                  <a:srgbClr val="FFD600"/>
                </a:solidFill>
              </a:rPr>
              <a:t>📁  Stored Models</a:t>
            </a:r>
            <a:endParaRPr sz="1500"/>
          </a:p>
        </p:txBody>
      </p:sp>
      <p:sp>
        <p:nvSpPr>
          <p:cNvPr id="25" name="TextBox 24"/>
          <p:cNvSpPr txBox="1"/>
          <p:nvPr/>
        </p:nvSpPr>
        <p:spPr>
          <a:xfrm>
            <a:off x="8537448" y="4087368"/>
            <a:ext cx="3057144" cy="850392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350" b="0" i="0">
                <a:solidFill>
                  <a:srgbClr val="CCD6E0"/>
                </a:solidFill>
              </a:rPr>
              <a:t>burst_time_predictor.joblib
rl_scheduler_model.zip (PPO)</a:t>
            </a:r>
            <a:endParaRPr sz="1350"/>
          </a:p>
        </p:txBody>
      </p:sp>
      <p:sp>
        <p:nvSpPr>
          <p:cNvPr id="26" name="TextBox 25"/>
          <p:cNvSpPr txBox="1"/>
          <p:nvPr/>
        </p:nvSpPr>
        <p:spPr>
          <a:xfrm>
            <a:off x="3788664" y="2034540"/>
            <a:ext cx="640080" cy="4572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2200" b="1" i="0">
                <a:solidFill>
                  <a:srgbClr val="008BD8"/>
                </a:solidFill>
              </a:rPr>
              <a:t>→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60208" y="2034540"/>
            <a:ext cx="640080" cy="4572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2200" b="1" i="0">
                <a:solidFill>
                  <a:srgbClr val="008BD8"/>
                </a:solidFill>
              </a:rPr>
              <a:t>→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02892" y="3044952"/>
            <a:ext cx="640080" cy="4572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2200" b="1" i="0">
                <a:solidFill>
                  <a:srgbClr val="00C9A7"/>
                </a:solidFill>
              </a:rPr>
              <a:t>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774436" y="3044952"/>
            <a:ext cx="640080" cy="4572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2200" b="1" i="0">
                <a:solidFill>
                  <a:srgbClr val="00C9A7"/>
                </a:solidFill>
              </a:rPr>
              <a:t>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45980" y="3044952"/>
            <a:ext cx="640080" cy="4572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2200" b="1" i="0">
                <a:solidFill>
                  <a:srgbClr val="00C9A7"/>
                </a:solidFill>
              </a:rPr>
              <a:t>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788664" y="4046220"/>
            <a:ext cx="640080" cy="4572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2200" b="1" i="0">
                <a:solidFill>
                  <a:srgbClr val="008BD8"/>
                </a:solidFill>
              </a:rPr>
              <a:t>→</a:t>
            </a:r>
          </a:p>
        </p:txBody>
      </p:sp>
      <p:sp>
        <p:nvSpPr>
          <p:cNvPr id="33" name="Notes Panel"/>
          <p:cNvSpPr/>
          <p:nvPr/>
        </p:nvSpPr>
        <p:spPr>
          <a:xfrm>
            <a:off x="457200" y="5303520"/>
            <a:ext cx="11274552" cy="868680"/>
          </a:xfrm>
          <a:prstGeom prst="rect">
            <a:avLst/>
          </a:prstGeom>
          <a:solidFill>
            <a:srgbClr val="162B3F"/>
          </a:solidFill>
          <a:ln w="22860">
            <a:solidFill>
              <a:srgbClr val="00C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94360" y="5349240"/>
            <a:ext cx="11000232" cy="77724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400" b="0" i="0">
                <a:solidFill>
                  <a:srgbClr val="CCD6E0"/>
                </a:solidFill>
              </a:rPr>
              <a:t>📌  Case 1 (Traditional): FCFS / SJF / Round Robin — computed entirely in JavaScript (Frontend)
📌  Case 2 (AI-Powered): ML Burst Prediction  →  PPO RL Scheduling — runs via Python Backend</a:t>
            </a:r>
            <a:endParaRPr sz="140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6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71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42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2280"/>
                            </p:stCondLst>
                            <p:childTnLst>
                              <p:par>
                                <p:cTn id="3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3140"/>
                            </p:stCondLst>
                            <p:childTnLst>
                              <p:par>
                                <p:cTn id="4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3800"/>
                            </p:stCondLst>
                            <p:childTnLst>
                              <p:par>
                                <p:cTn id="5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4510"/>
                            </p:stCondLst>
                            <p:childTnLst>
                              <p:par>
                                <p:cTn id="6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0" fill="hold">
                            <p:stCondLst>
                              <p:cond delay="5370"/>
                            </p:stCondLst>
                            <p:childTnLst>
                              <p:par>
                                <p:cTn id="8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0" fill="hold">
                            <p:stCondLst>
                              <p:cond delay="6080"/>
                            </p:stCondLst>
                            <p:childTnLst>
                              <p:par>
                                <p:cTn id="9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8" grpId="0" animBg="1"/>
      <p:bldP spid="9" grpId="0"/>
      <p:bldP spid="10" grpId="0"/>
      <p:bldP spid="11" grpId="0" animBg="1"/>
      <p:bldP spid="12" grpId="0"/>
      <p:bldP spid="13" grpId="0"/>
      <p:bldP spid="14" grpId="0" animBg="1"/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  <p:bldP spid="22" grpId="0"/>
      <p:bldP spid="23" grpId="0" animBg="1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33" grpId="0" animBg="1"/>
      <p:bldP spid="3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008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4008" y="0"/>
            <a:ext cx="12124944" cy="1188720"/>
          </a:xfrm>
          <a:prstGeom prst="rect">
            <a:avLst/>
          </a:prstGeom>
          <a:solidFill>
            <a:srgbClr val="162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28016"/>
            <a:ext cx="11457432" cy="566928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2800" b="1" i="0">
                <a:solidFill>
                  <a:srgbClr val="00C9A7"/>
                </a:solidFill>
              </a:rPr>
              <a:t>Dataset &amp; Machine Learning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94944"/>
            <a:ext cx="11457432" cy="347472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400" b="0" i="0">
                <a:solidFill>
                  <a:srgbClr val="CCD6E0"/>
                </a:solidFill>
              </a:rPr>
              <a:t>Random Forest Regressor for Burst Time Prediction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115568"/>
            <a:ext cx="4114800" cy="45720"/>
          </a:xfrm>
          <a:prstGeom prst="rect">
            <a:avLst/>
          </a:prstGeom>
          <a:solidFill>
            <a:srgbClr val="008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543032" y="6400800"/>
            <a:ext cx="1280160" cy="27432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100" b="0" i="0">
                <a:solidFill>
                  <a:srgbClr val="CCD6E0"/>
                </a:solidFill>
              </a:rPr>
              <a:t>5 / 10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508760"/>
            <a:ext cx="5500116" cy="2468880"/>
          </a:xfrm>
          <a:prstGeom prst="rect">
            <a:avLst/>
          </a:prstGeom>
          <a:solidFill>
            <a:srgbClr val="162B3F"/>
          </a:solidFill>
          <a:ln w="19050">
            <a:solidFill>
              <a:srgbClr val="00C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1618488"/>
            <a:ext cx="5225796" cy="420624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600" b="1" i="0">
                <a:solidFill>
                  <a:srgbClr val="00C9A7"/>
                </a:solidFill>
              </a:rPr>
              <a:t>📁  Dataset</a:t>
            </a:r>
            <a:endParaRPr sz="1600"/>
          </a:p>
        </p:txBody>
      </p:sp>
      <p:sp>
        <p:nvSpPr>
          <p:cNvPr id="10" name="TextBox 9"/>
          <p:cNvSpPr txBox="1"/>
          <p:nvPr/>
        </p:nvSpPr>
        <p:spPr>
          <a:xfrm>
            <a:off x="594360" y="2148840"/>
            <a:ext cx="5225796" cy="17373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110490" indent="-110490"/>
            <a:r>
              <a:rPr sz="1500" b="0">
                <a:solidFill>
                  <a:srgbClr val="FFFFFF"/>
                </a:solidFill>
              </a:rPr>
              <a:t>• 6,600+ real OS process execution logs</a:t>
            </a:r>
            <a:endParaRPr sz="1500"/>
          </a:p>
          <a:p>
            <a:pPr marL="110490" indent="-110490">
              <a:spcBef>
                <a:spcPts val="500"/>
              </a:spcBef>
            </a:pPr>
            <a:r>
              <a:rPr sz="1500" b="0">
                <a:solidFill>
                  <a:srgbClr val="FFFFFF"/>
                </a:solidFill>
              </a:rPr>
              <a:t>• Collected from Windows process monitor</a:t>
            </a:r>
            <a:endParaRPr sz="1500"/>
          </a:p>
          <a:p>
            <a:pPr marL="110490" indent="-110490">
              <a:spcBef>
                <a:spcPts val="500"/>
              </a:spcBef>
            </a:pPr>
            <a:r>
              <a:rPr sz="1500" b="0">
                <a:solidFill>
                  <a:srgbClr val="FFFFFF"/>
                </a:solidFill>
              </a:rPr>
              <a:t>• Target variable: cpu_times_user + cpu_times_system</a:t>
            </a:r>
            <a:endParaRPr sz="1500"/>
          </a:p>
          <a:p>
            <a:pPr marL="110490" indent="-110490">
              <a:spcBef>
                <a:spcPts val="500"/>
              </a:spcBef>
            </a:pPr>
            <a:r>
              <a:rPr sz="1500" b="0">
                <a:solidFill>
                  <a:srgbClr val="FFFFFF"/>
                </a:solidFill>
              </a:rPr>
              <a:t>• Filename: process_data.csv</a:t>
            </a:r>
            <a:endParaRPr sz="1500"/>
          </a:p>
        </p:txBody>
      </p:sp>
      <p:sp>
        <p:nvSpPr>
          <p:cNvPr id="11" name="Rectangle 10"/>
          <p:cNvSpPr/>
          <p:nvPr/>
        </p:nvSpPr>
        <p:spPr>
          <a:xfrm>
            <a:off x="6231636" y="1508760"/>
            <a:ext cx="5500116" cy="2468880"/>
          </a:xfrm>
          <a:prstGeom prst="rect">
            <a:avLst/>
          </a:prstGeom>
          <a:solidFill>
            <a:srgbClr val="162B3F"/>
          </a:solidFill>
          <a:ln w="19050">
            <a:solidFill>
              <a:srgbClr val="008B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368796" y="1618488"/>
            <a:ext cx="5225796" cy="420624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600" b="1" i="0">
                <a:solidFill>
                  <a:srgbClr val="008BD8"/>
                </a:solidFill>
              </a:rPr>
              <a:t>🔬  Feature Set (6 Inputs)</a:t>
            </a:r>
            <a:endParaRPr sz="1600"/>
          </a:p>
        </p:txBody>
      </p:sp>
      <p:sp>
        <p:nvSpPr>
          <p:cNvPr id="13" name="TextBox 12"/>
          <p:cNvSpPr txBox="1"/>
          <p:nvPr/>
        </p:nvSpPr>
        <p:spPr>
          <a:xfrm>
            <a:off x="6368796" y="2148840"/>
            <a:ext cx="5225796" cy="17373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r>
              <a:rPr sz="1400" b="0">
                <a:solidFill>
                  <a:srgbClr val="FFFFFF"/>
                </a:solidFill>
                <a:latin typeface="Consolas"/>
              </a:rPr>
              <a:t>io_write_bytes       → Bytes written to disk</a:t>
            </a:r>
            <a:endParaRPr sz="1400"/>
          </a:p>
          <a:p>
            <a:pPr>
              <a:spcBef>
                <a:spcPts val="500"/>
              </a:spcBef>
            </a:pPr>
            <a:r>
              <a:rPr sz="1400" b="0">
                <a:solidFill>
                  <a:srgbClr val="FFFFFF"/>
                </a:solidFill>
                <a:latin typeface="Consolas"/>
              </a:rPr>
              <a:t>num_ctx_switches_voluntary  → Process waits</a:t>
            </a:r>
            <a:endParaRPr sz="1400"/>
          </a:p>
          <a:p>
            <a:pPr>
              <a:spcBef>
                <a:spcPts val="500"/>
              </a:spcBef>
            </a:pPr>
            <a:r>
              <a:rPr sz="1400" b="0">
                <a:solidFill>
                  <a:srgbClr val="FFFFFF"/>
                </a:solidFill>
                <a:latin typeface="Consolas"/>
              </a:rPr>
              <a:t>cpu_percent          → CPU usage at snapshot</a:t>
            </a:r>
            <a:endParaRPr sz="1400"/>
          </a:p>
          <a:p>
            <a:pPr>
              <a:spcBef>
                <a:spcPts val="500"/>
              </a:spcBef>
            </a:pPr>
            <a:r>
              <a:rPr sz="1400" b="0">
                <a:solidFill>
                  <a:srgbClr val="FFFFFF"/>
                </a:solidFill>
                <a:latin typeface="Consolas"/>
              </a:rPr>
              <a:t>io_read_bytes        → Bytes read from disk</a:t>
            </a:r>
            <a:endParaRPr sz="1400"/>
          </a:p>
          <a:p>
            <a:pPr>
              <a:spcBef>
                <a:spcPts val="500"/>
              </a:spcBef>
            </a:pPr>
            <a:r>
              <a:rPr sz="1400" b="0">
                <a:solidFill>
                  <a:srgbClr val="FFFFFF"/>
                </a:solidFill>
                <a:latin typeface="Consolas"/>
              </a:rPr>
              <a:t>io_read_count        → Number of read calls</a:t>
            </a:r>
            <a:endParaRPr sz="1400"/>
          </a:p>
          <a:p>
            <a:pPr>
              <a:spcBef>
                <a:spcPts val="500"/>
              </a:spcBef>
            </a:pPr>
            <a:r>
              <a:rPr sz="1400" b="0">
                <a:solidFill>
                  <a:srgbClr val="FFFFFF"/>
                </a:solidFill>
                <a:latin typeface="Consolas"/>
              </a:rPr>
              <a:t>io_write_count       → Number of write calls</a:t>
            </a:r>
            <a:endParaRPr sz="1400"/>
          </a:p>
        </p:txBody>
      </p:sp>
      <p:sp>
        <p:nvSpPr>
          <p:cNvPr id="14" name="Rectangle 13"/>
          <p:cNvSpPr/>
          <p:nvPr/>
        </p:nvSpPr>
        <p:spPr>
          <a:xfrm>
            <a:off x="457200" y="4251960"/>
            <a:ext cx="2612898" cy="1874520"/>
          </a:xfrm>
          <a:prstGeom prst="rect">
            <a:avLst/>
          </a:prstGeom>
          <a:solidFill>
            <a:srgbClr val="162B3F"/>
          </a:solidFill>
          <a:ln w="15240">
            <a:solidFill>
              <a:srgbClr val="00C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02920" y="4379976"/>
            <a:ext cx="2521458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400" b="1" i="0">
                <a:solidFill>
                  <a:srgbClr val="00C9A7"/>
                </a:solidFill>
              </a:rPr>
              <a:t>📉  MAE</a:t>
            </a:r>
            <a:endParaRPr sz="1400"/>
          </a:p>
        </p:txBody>
      </p:sp>
      <p:sp>
        <p:nvSpPr>
          <p:cNvPr id="16" name="TextBox 15"/>
          <p:cNvSpPr txBox="1"/>
          <p:nvPr/>
        </p:nvSpPr>
        <p:spPr>
          <a:xfrm>
            <a:off x="502920" y="4818888"/>
            <a:ext cx="2521458" cy="73152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</a:rPr>
              <a:t>0.0304</a:t>
            </a:r>
            <a:endParaRPr sz="2800"/>
          </a:p>
        </p:txBody>
      </p:sp>
      <p:sp>
        <p:nvSpPr>
          <p:cNvPr id="17" name="TextBox 16"/>
          <p:cNvSpPr txBox="1"/>
          <p:nvPr/>
        </p:nvSpPr>
        <p:spPr>
          <a:xfrm>
            <a:off x="502920" y="5623560"/>
            <a:ext cx="2521458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1200" b="0" i="0" dirty="0">
                <a:solidFill>
                  <a:srgbClr val="CCD6E0"/>
                </a:solidFill>
              </a:rPr>
              <a:t>Mean Absolute Error</a:t>
            </a:r>
            <a:endParaRPr sz="1200" dirty="0"/>
          </a:p>
        </p:txBody>
      </p:sp>
      <p:sp>
        <p:nvSpPr>
          <p:cNvPr id="18" name="Rectangle 17"/>
          <p:cNvSpPr/>
          <p:nvPr/>
        </p:nvSpPr>
        <p:spPr>
          <a:xfrm>
            <a:off x="3344418" y="4251960"/>
            <a:ext cx="2612898" cy="1874520"/>
          </a:xfrm>
          <a:prstGeom prst="rect">
            <a:avLst/>
          </a:prstGeom>
          <a:solidFill>
            <a:srgbClr val="162B3F"/>
          </a:solidFill>
          <a:ln w="15240">
            <a:solidFill>
              <a:srgbClr val="00C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390138" y="4379976"/>
            <a:ext cx="2521458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400" b="1" i="0">
                <a:solidFill>
                  <a:srgbClr val="00C9A7"/>
                </a:solidFill>
              </a:rPr>
              <a:t>📊  MSE</a:t>
            </a:r>
            <a:endParaRPr sz="1400"/>
          </a:p>
        </p:txBody>
      </p:sp>
      <p:sp>
        <p:nvSpPr>
          <p:cNvPr id="20" name="TextBox 19"/>
          <p:cNvSpPr txBox="1"/>
          <p:nvPr/>
        </p:nvSpPr>
        <p:spPr>
          <a:xfrm>
            <a:off x="3390138" y="4818888"/>
            <a:ext cx="2521458" cy="73152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</a:rPr>
              <a:t>0.0815</a:t>
            </a:r>
            <a:endParaRPr sz="2800"/>
          </a:p>
        </p:txBody>
      </p:sp>
      <p:sp>
        <p:nvSpPr>
          <p:cNvPr id="21" name="TextBox 20"/>
          <p:cNvSpPr txBox="1"/>
          <p:nvPr/>
        </p:nvSpPr>
        <p:spPr>
          <a:xfrm>
            <a:off x="3390138" y="5623560"/>
            <a:ext cx="2521458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1200" b="0" i="0">
                <a:solidFill>
                  <a:srgbClr val="CCD6E0"/>
                </a:solidFill>
              </a:rPr>
              <a:t>Mean Squared Error</a:t>
            </a:r>
            <a:endParaRPr sz="1200"/>
          </a:p>
        </p:txBody>
      </p:sp>
      <p:sp>
        <p:nvSpPr>
          <p:cNvPr id="22" name="Rectangle 21"/>
          <p:cNvSpPr/>
          <p:nvPr/>
        </p:nvSpPr>
        <p:spPr>
          <a:xfrm>
            <a:off x="6231636" y="4251960"/>
            <a:ext cx="2612898" cy="1874520"/>
          </a:xfrm>
          <a:prstGeom prst="rect">
            <a:avLst/>
          </a:prstGeom>
          <a:solidFill>
            <a:srgbClr val="162B3F"/>
          </a:solidFill>
          <a:ln w="15240">
            <a:solidFill>
              <a:srgbClr val="00C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277356" y="4379976"/>
            <a:ext cx="2521458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400" b="1" i="0">
                <a:solidFill>
                  <a:srgbClr val="00C9A7"/>
                </a:solidFill>
              </a:rPr>
              <a:t>✅  R² Score</a:t>
            </a:r>
            <a:endParaRPr sz="1400"/>
          </a:p>
        </p:txBody>
      </p:sp>
      <p:sp>
        <p:nvSpPr>
          <p:cNvPr id="24" name="TextBox 23"/>
          <p:cNvSpPr txBox="1"/>
          <p:nvPr/>
        </p:nvSpPr>
        <p:spPr>
          <a:xfrm>
            <a:off x="6277356" y="4818888"/>
            <a:ext cx="2521458" cy="73152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</a:rPr>
              <a:t>1.0000</a:t>
            </a:r>
            <a:endParaRPr sz="2800"/>
          </a:p>
        </p:txBody>
      </p:sp>
      <p:sp>
        <p:nvSpPr>
          <p:cNvPr id="25" name="TextBox 24"/>
          <p:cNvSpPr txBox="1"/>
          <p:nvPr/>
        </p:nvSpPr>
        <p:spPr>
          <a:xfrm>
            <a:off x="6277356" y="5623560"/>
            <a:ext cx="2521458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1200" b="0" i="0" dirty="0">
                <a:solidFill>
                  <a:srgbClr val="CCD6E0"/>
                </a:solidFill>
              </a:rPr>
              <a:t>Coefficient of Determination</a:t>
            </a:r>
            <a:endParaRPr sz="1200" dirty="0"/>
          </a:p>
        </p:txBody>
      </p:sp>
      <p:sp>
        <p:nvSpPr>
          <p:cNvPr id="26" name="Rectangle 25"/>
          <p:cNvSpPr/>
          <p:nvPr/>
        </p:nvSpPr>
        <p:spPr>
          <a:xfrm>
            <a:off x="9118854" y="4251960"/>
            <a:ext cx="2612898" cy="1874520"/>
          </a:xfrm>
          <a:prstGeom prst="rect">
            <a:avLst/>
          </a:prstGeom>
          <a:solidFill>
            <a:srgbClr val="162B3F"/>
          </a:solidFill>
          <a:ln w="15240">
            <a:solidFill>
              <a:srgbClr val="00C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164574" y="4379976"/>
            <a:ext cx="2521458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400" b="1" i="0">
                <a:solidFill>
                  <a:srgbClr val="00C9A7"/>
                </a:solidFill>
              </a:rPr>
              <a:t>🏆  Model</a:t>
            </a:r>
            <a:endParaRPr sz="1400"/>
          </a:p>
        </p:txBody>
      </p:sp>
      <p:sp>
        <p:nvSpPr>
          <p:cNvPr id="28" name="TextBox 27"/>
          <p:cNvSpPr txBox="1"/>
          <p:nvPr/>
        </p:nvSpPr>
        <p:spPr>
          <a:xfrm>
            <a:off x="9164574" y="4818888"/>
            <a:ext cx="2521458" cy="73152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</a:rPr>
              <a:t>Random Forest</a:t>
            </a:r>
            <a:endParaRPr sz="2800"/>
          </a:p>
        </p:txBody>
      </p:sp>
      <p:sp>
        <p:nvSpPr>
          <p:cNvPr id="29" name="TextBox 28"/>
          <p:cNvSpPr txBox="1"/>
          <p:nvPr/>
        </p:nvSpPr>
        <p:spPr>
          <a:xfrm>
            <a:off x="9164574" y="5623560"/>
            <a:ext cx="2521458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1200" b="0" i="0">
                <a:solidFill>
                  <a:srgbClr val="CCD6E0"/>
                </a:solidFill>
              </a:rPr>
              <a:t>Best Performer (100</a:t>
            </a:r>
            <a:r>
              <a:rPr lang="en-US" sz="1200" b="0" i="0">
                <a:solidFill>
                  <a:srgbClr val="CCD6E0"/>
                </a:solidFill>
              </a:rPr>
              <a:t>+ </a:t>
            </a:r>
            <a:r>
              <a:rPr sz="1200" b="0" i="0">
                <a:solidFill>
                  <a:srgbClr val="CCD6E0"/>
                </a:solidFill>
              </a:rPr>
              <a:t>estimators)</a:t>
            </a:r>
            <a:endParaRPr sz="120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6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71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8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35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ntr" presetSubtype="8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350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22" presetClass="entr" presetSubtype="8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350"/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2" presetClass="entr" presetSubtype="8" fill="hold" grpId="0" nodeType="withEffect">
                                  <p:stCondLst>
                                    <p:cond delay="81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350"/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22" presetClass="entr" presetSubtype="8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35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2" presetClass="entr" presetSubtype="8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350"/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22" presetClass="entr" presetSubtype="8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350"/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grpId="0" nodeType="withEffect">
                                  <p:stCondLst>
                                    <p:cond delay="101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350"/>
                                        <p:tgtEl>
                                          <p:spTgt spid="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22" presetClass="entr" presetSubtype="8" fill="hold" grpId="0" nodeType="withEffect">
                                  <p:stCondLst>
                                    <p:cond delay="11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350"/>
                                        <p:tgtEl>
                                          <p:spTgt spid="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350"/>
                                        <p:tgtEl>
                                          <p:spTgt spid="1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2470"/>
                            </p:stCondLst>
                            <p:childTnLst>
                              <p:par>
                                <p:cTn id="5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grpId="0" nodeType="withEffect">
                                  <p:stCondLst>
                                    <p:cond delay="46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grpId="0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8" grpId="0" animBg="1"/>
      <p:bldP spid="9" grpId="0"/>
      <p:bldP spid="10" grpId="0" build="p"/>
      <p:bldP spid="11" grpId="0" animBg="1"/>
      <p:bldP spid="12" grpId="0"/>
      <p:bldP spid="13" grpId="0" build="p"/>
      <p:bldP spid="14" grpId="0" animBg="1"/>
      <p:bldP spid="15" grpId="0"/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/>
      <p:bldP spid="26" grpId="0" animBg="1"/>
      <p:bldP spid="27" grpId="0"/>
      <p:bldP spid="28" grpId="0"/>
      <p:bldP spid="29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008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4008" y="0"/>
            <a:ext cx="12124944" cy="1188720"/>
          </a:xfrm>
          <a:prstGeom prst="rect">
            <a:avLst/>
          </a:prstGeom>
          <a:solidFill>
            <a:srgbClr val="162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28016"/>
            <a:ext cx="11457432" cy="566928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2800" b="1" i="0">
                <a:solidFill>
                  <a:srgbClr val="00C9A7"/>
                </a:solidFill>
              </a:rPr>
              <a:t>Reinforcement Learning Scheduler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94944"/>
            <a:ext cx="11457432" cy="347472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400" b="0" i="0">
                <a:solidFill>
                  <a:srgbClr val="CCD6E0"/>
                </a:solidFill>
              </a:rPr>
              <a:t>PPO Agent for Dynamic CPU Process Scheduling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115568"/>
            <a:ext cx="4114800" cy="45720"/>
          </a:xfrm>
          <a:prstGeom prst="rect">
            <a:avLst/>
          </a:prstGeom>
          <a:solidFill>
            <a:srgbClr val="008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543032" y="6400800"/>
            <a:ext cx="1280160" cy="27432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100" b="0" i="0">
                <a:solidFill>
                  <a:srgbClr val="CCD6E0"/>
                </a:solidFill>
              </a:rPr>
              <a:t>6 / 10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508760"/>
            <a:ext cx="5500116" cy="4617720"/>
          </a:xfrm>
          <a:prstGeom prst="rect">
            <a:avLst/>
          </a:prstGeom>
          <a:solidFill>
            <a:srgbClr val="162B3F"/>
          </a:solidFill>
          <a:ln w="19050">
            <a:solidFill>
              <a:srgbClr val="00C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1618488"/>
            <a:ext cx="5225796" cy="420624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600" b="1" i="0">
                <a:solidFill>
                  <a:srgbClr val="00C9A7"/>
                </a:solidFill>
              </a:rPr>
              <a:t>🧠  PPO Environment Design</a:t>
            </a:r>
            <a:endParaRPr sz="1600"/>
          </a:p>
        </p:txBody>
      </p:sp>
      <p:sp>
        <p:nvSpPr>
          <p:cNvPr id="10" name="TextBox 9"/>
          <p:cNvSpPr txBox="1"/>
          <p:nvPr/>
        </p:nvSpPr>
        <p:spPr>
          <a:xfrm>
            <a:off x="594360" y="2167128"/>
            <a:ext cx="5225796" cy="3849624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r>
              <a:rPr sz="1500" b="1">
                <a:solidFill>
                  <a:srgbClr val="CCD6E0"/>
                </a:solidFill>
              </a:rPr>
              <a:t>Algorithm:  PPO  (Proximal Policy Optimization)</a:t>
            </a:r>
            <a:endParaRPr sz="1500"/>
          </a:p>
          <a:p>
            <a:r>
              <a:rPr sz="1500" b="0">
                <a:solidFill>
                  <a:srgbClr val="CCD6E0"/>
                </a:solidFill>
              </a:rPr>
              <a:t>Library:  stable-baselines3  +  PyTorch</a:t>
            </a:r>
            <a:endParaRPr sz="1500"/>
          </a:p>
          <a:p>
            <a:r>
              <a:rPr sz="1500" b="0">
                <a:solidFill>
                  <a:srgbClr val="CCD6E0"/>
                </a:solidFill>
              </a:rPr>
              <a:t> </a:t>
            </a:r>
            <a:endParaRPr sz="1500"/>
          </a:p>
          <a:p>
            <a:r>
              <a:rPr sz="1500" b="1">
                <a:solidFill>
                  <a:srgbClr val="CCD6E0"/>
                </a:solidFill>
              </a:rPr>
              <a:t>STATE SPACE (4 dimensions):</a:t>
            </a:r>
            <a:endParaRPr sz="1500"/>
          </a:p>
          <a:p>
            <a:r>
              <a:rPr sz="1500" b="0">
                <a:solidFill>
                  <a:srgbClr val="CCD6E0"/>
                </a:solidFill>
              </a:rPr>
              <a:t>  • Predicted Burst Time of current process</a:t>
            </a:r>
            <a:endParaRPr sz="1500"/>
          </a:p>
          <a:p>
            <a:r>
              <a:rPr sz="1500" b="0">
                <a:solidFill>
                  <a:srgbClr val="CCD6E0"/>
                </a:solidFill>
              </a:rPr>
              <a:t>  • Waiting Time of current process</a:t>
            </a:r>
            <a:endParaRPr sz="1500"/>
          </a:p>
          <a:p>
            <a:r>
              <a:rPr sz="1500" b="0">
                <a:solidFill>
                  <a:srgbClr val="CCD6E0"/>
                </a:solidFill>
              </a:rPr>
              <a:t>  • Queue Length (# processes waiting)</a:t>
            </a:r>
            <a:endParaRPr sz="1500"/>
          </a:p>
          <a:p>
            <a:r>
              <a:rPr sz="1500" b="0">
                <a:solidFill>
                  <a:srgbClr val="CCD6E0"/>
                </a:solidFill>
              </a:rPr>
              <a:t>  • Execution Progress (0 → 100%)</a:t>
            </a:r>
            <a:endParaRPr sz="1500"/>
          </a:p>
          <a:p>
            <a:r>
              <a:rPr sz="1500" b="0">
                <a:solidFill>
                  <a:srgbClr val="CCD6E0"/>
                </a:solidFill>
              </a:rPr>
              <a:t> </a:t>
            </a:r>
            <a:endParaRPr sz="1500"/>
          </a:p>
          <a:p>
            <a:r>
              <a:rPr sz="1500" b="1">
                <a:solidFill>
                  <a:srgbClr val="CCD6E0"/>
                </a:solidFill>
              </a:rPr>
              <a:t>ACTION SPACE (Binary Decision):</a:t>
            </a:r>
            <a:endParaRPr sz="1500"/>
          </a:p>
          <a:p>
            <a:r>
              <a:rPr sz="1500" b="0">
                <a:solidFill>
                  <a:srgbClr val="CCD6E0"/>
                </a:solidFill>
              </a:rPr>
              <a:t>  0 → Keep running current process</a:t>
            </a:r>
            <a:endParaRPr sz="1500"/>
          </a:p>
          <a:p>
            <a:r>
              <a:rPr sz="1500" b="0">
                <a:solidFill>
                  <a:srgbClr val="CCD6E0"/>
                </a:solidFill>
              </a:rPr>
              <a:t>  1 → Context-switch to next process</a:t>
            </a:r>
            <a:endParaRPr sz="1500"/>
          </a:p>
        </p:txBody>
      </p:sp>
      <p:sp>
        <p:nvSpPr>
          <p:cNvPr id="11" name="Rectangle 10"/>
          <p:cNvSpPr/>
          <p:nvPr/>
        </p:nvSpPr>
        <p:spPr>
          <a:xfrm>
            <a:off x="6231636" y="1508760"/>
            <a:ext cx="5500116" cy="4617720"/>
          </a:xfrm>
          <a:prstGeom prst="rect">
            <a:avLst/>
          </a:prstGeom>
          <a:solidFill>
            <a:srgbClr val="162B3F"/>
          </a:solidFill>
          <a:ln w="19050">
            <a:solidFill>
              <a:srgbClr val="008B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368796" y="1618488"/>
            <a:ext cx="5225796" cy="420624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600" b="1" i="0">
                <a:solidFill>
                  <a:srgbClr val="008BD8"/>
                </a:solidFill>
              </a:rPr>
              <a:t>🎯  Reward System &amp; Hyperparameters</a:t>
            </a:r>
            <a:endParaRPr sz="1600"/>
          </a:p>
        </p:txBody>
      </p:sp>
      <p:sp>
        <p:nvSpPr>
          <p:cNvPr id="13" name="TextBox 12"/>
          <p:cNvSpPr txBox="1"/>
          <p:nvPr/>
        </p:nvSpPr>
        <p:spPr>
          <a:xfrm>
            <a:off x="6368796" y="2167128"/>
            <a:ext cx="5225796" cy="3849624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r>
              <a:rPr sz="1350" b="1">
                <a:solidFill>
                  <a:srgbClr val="CCD6E0"/>
                </a:solidFill>
                <a:latin typeface="Consolas"/>
              </a:rPr>
              <a:t>REWARD DESIGN:</a:t>
            </a:r>
            <a:endParaRPr sz="1350"/>
          </a:p>
          <a:p>
            <a:r>
              <a:rPr sz="1350" b="0">
                <a:solidFill>
                  <a:srgbClr val="CCD6E0"/>
                </a:solidFill>
                <a:latin typeface="Consolas"/>
              </a:rPr>
              <a:t>  +5.0   → Process completes successfully</a:t>
            </a:r>
            <a:endParaRPr sz="1350"/>
          </a:p>
          <a:p>
            <a:r>
              <a:rPr sz="1350" b="0">
                <a:solidFill>
                  <a:srgbClr val="CCD6E0"/>
                </a:solidFill>
                <a:latin typeface="Consolas"/>
              </a:rPr>
              <a:t>  -0.5   → Context switch penalty</a:t>
            </a:r>
            <a:endParaRPr sz="1350"/>
          </a:p>
          <a:p>
            <a:r>
              <a:rPr sz="1350" b="0">
                <a:solidFill>
                  <a:srgbClr val="CCD6E0"/>
                </a:solidFill>
                <a:latin typeface="Consolas"/>
              </a:rPr>
              <a:t>  -0.1   → Waiting penalty (per waiting proc)</a:t>
            </a:r>
            <a:endParaRPr sz="1350"/>
          </a:p>
          <a:p>
            <a:r>
              <a:rPr sz="1350" b="0">
                <a:solidFill>
                  <a:srgbClr val="CCD6E0"/>
                </a:solidFill>
                <a:latin typeface="Consolas"/>
              </a:rPr>
              <a:t>  -1.0   → Long wait penalty (&gt; threshold)</a:t>
            </a:r>
            <a:endParaRPr sz="1350"/>
          </a:p>
          <a:p>
            <a:r>
              <a:rPr sz="1350" b="0">
                <a:solidFill>
                  <a:srgbClr val="CCD6E0"/>
                </a:solidFill>
                <a:latin typeface="Consolas"/>
              </a:rPr>
              <a:t>  +10.0  → Bonus: efficient total completion</a:t>
            </a:r>
            <a:endParaRPr sz="1350"/>
          </a:p>
          <a:p>
            <a:r>
              <a:rPr sz="1350" b="0">
                <a:solidFill>
                  <a:srgbClr val="CCD6E0"/>
                </a:solidFill>
                <a:latin typeface="Consolas"/>
              </a:rPr>
              <a:t> </a:t>
            </a:r>
            <a:endParaRPr sz="1350"/>
          </a:p>
          <a:p>
            <a:r>
              <a:rPr sz="1350" b="1">
                <a:solidFill>
                  <a:srgbClr val="CCD6E0"/>
                </a:solidFill>
                <a:latin typeface="Consolas"/>
              </a:rPr>
              <a:t>PPO HYPERPARAMETERS:</a:t>
            </a:r>
            <a:endParaRPr sz="1350"/>
          </a:p>
          <a:p>
            <a:r>
              <a:rPr sz="1350" b="0">
                <a:solidFill>
                  <a:srgbClr val="CCD6E0"/>
                </a:solidFill>
                <a:latin typeface="Consolas"/>
              </a:rPr>
              <a:t>  Learning Rate :  0.0001</a:t>
            </a:r>
            <a:endParaRPr sz="1350"/>
          </a:p>
          <a:p>
            <a:r>
              <a:rPr sz="1350" b="0">
                <a:solidFill>
                  <a:srgbClr val="CCD6E0"/>
                </a:solidFill>
                <a:latin typeface="Consolas"/>
              </a:rPr>
              <a:t>  Batch Size    :  32</a:t>
            </a:r>
            <a:endParaRPr sz="1350"/>
          </a:p>
          <a:p>
            <a:r>
              <a:rPr sz="1350" b="0">
                <a:solidFill>
                  <a:srgbClr val="CCD6E0"/>
                </a:solidFill>
                <a:latin typeface="Consolas"/>
              </a:rPr>
              <a:t>  Steps/Update  :  1024</a:t>
            </a:r>
            <a:endParaRPr sz="1350"/>
          </a:p>
          <a:p>
            <a:r>
              <a:rPr sz="1350" b="0">
                <a:solidFill>
                  <a:srgbClr val="CCD6E0"/>
                </a:solidFill>
                <a:latin typeface="Consolas"/>
              </a:rPr>
              <a:t>  Discount γ    :  0.99</a:t>
            </a:r>
            <a:endParaRPr sz="1350"/>
          </a:p>
          <a:p>
            <a:r>
              <a:rPr sz="1350" b="0">
                <a:solidFill>
                  <a:srgbClr val="CCD6E0"/>
                </a:solidFill>
                <a:latin typeface="Consolas"/>
              </a:rPr>
              <a:t>  Epochs        :  8</a:t>
            </a:r>
            <a:endParaRPr sz="1350"/>
          </a:p>
          <a:p>
            <a:r>
              <a:rPr sz="1350" b="0">
                <a:solidFill>
                  <a:srgbClr val="CCD6E0"/>
                </a:solidFill>
                <a:latin typeface="Consolas"/>
              </a:rPr>
              <a:t>  Total Steps   :  150,000</a:t>
            </a:r>
            <a:endParaRPr sz="135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6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65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8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35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350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350"/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350"/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350"/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350"/>
                                        <p:tgtEl>
                                          <p:spTgt spid="1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350"/>
                                        <p:tgtEl>
                                          <p:spTgt spid="1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350"/>
                                        <p:tgtEl>
                                          <p:spTgt spid="1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350"/>
                                        <p:tgtEl>
                                          <p:spTgt spid="1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8" fill="hold" grpId="0" nodeType="click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350"/>
                                        <p:tgtEl>
                                          <p:spTgt spid="10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22" presetClass="entr" presetSubtype="8" fill="hold" grpId="0" nodeType="click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350"/>
                                        <p:tgtEl>
                                          <p:spTgt spid="10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2" presetClass="entr" presetSubtype="8" fill="hold" grpId="0" nodeType="click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5" dur="350"/>
                                        <p:tgtEl>
                                          <p:spTgt spid="10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22" presetClass="entr" presetSubtype="8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4" dur="35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22" presetClass="entr" presetSubtype="8" fill="hold" grpId="0" nodeType="click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9" dur="350"/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22" presetClass="entr" presetSubtype="8" fill="hold" grpId="0" nodeType="click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4" dur="350"/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22" presetClass="entr" presetSubtype="8" fill="hold" grpId="0" nodeType="click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9" dur="350"/>
                                        <p:tgtEl>
                                          <p:spTgt spid="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0" fill="hold">
                      <p:stCondLst>
                        <p:cond delay="indefinite"/>
                      </p:stCondLst>
                      <p:childTnLst>
                        <p:par>
                          <p:cTn id="101" fill="hold">
                            <p:stCondLst>
                              <p:cond delay="0"/>
                            </p:stCondLst>
                            <p:childTnLst>
                              <p:par>
                                <p:cTn id="102" presetID="22" presetClass="entr" presetSubtype="8" fill="hold" grpId="0" nodeType="click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4" dur="350"/>
                                        <p:tgtEl>
                                          <p:spTgt spid="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5" fill="hold">
                      <p:stCondLst>
                        <p:cond delay="indefinite"/>
                      </p:stCondLst>
                      <p:childTnLst>
                        <p:par>
                          <p:cTn id="106" fill="hold">
                            <p:stCondLst>
                              <p:cond delay="0"/>
                            </p:stCondLst>
                            <p:childTnLst>
                              <p:par>
                                <p:cTn id="107" presetID="22" presetClass="entr" presetSubtype="8" fill="hold" grpId="0" nodeType="click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9" dur="350"/>
                                        <p:tgtEl>
                                          <p:spTgt spid="1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0" fill="hold">
                      <p:stCondLst>
                        <p:cond delay="indefinite"/>
                      </p:stCondLst>
                      <p:childTnLst>
                        <p:par>
                          <p:cTn id="111" fill="hold">
                            <p:stCondLst>
                              <p:cond delay="0"/>
                            </p:stCondLst>
                            <p:childTnLst>
                              <p:par>
                                <p:cTn id="112" presetID="22" presetClass="entr" presetSubtype="8" fill="hold" grpId="0" nodeType="click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4" dur="350"/>
                                        <p:tgtEl>
                                          <p:spTgt spid="1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22" presetClass="entr" presetSubtype="8" fill="hold" grpId="0" nodeType="click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9" dur="350"/>
                                        <p:tgtEl>
                                          <p:spTgt spid="1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0" fill="hold">
                      <p:stCondLst>
                        <p:cond delay="indefinite"/>
                      </p:stCondLst>
                      <p:childTnLst>
                        <p:par>
                          <p:cTn id="121" fill="hold">
                            <p:stCondLst>
                              <p:cond delay="0"/>
                            </p:stCondLst>
                            <p:childTnLst>
                              <p:par>
                                <p:cTn id="122" presetID="22" presetClass="entr" presetSubtype="8" fill="hold" grpId="0" nodeType="click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4" dur="350"/>
                                        <p:tgtEl>
                                          <p:spTgt spid="1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5" fill="hold">
                      <p:stCondLst>
                        <p:cond delay="indefinite"/>
                      </p:stCondLst>
                      <p:childTnLst>
                        <p:par>
                          <p:cTn id="126" fill="hold">
                            <p:stCondLst>
                              <p:cond delay="0"/>
                            </p:stCondLst>
                            <p:childTnLst>
                              <p:par>
                                <p:cTn id="127" presetID="22" presetClass="entr" presetSubtype="8" fill="hold" grpId="0" nodeType="click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9" dur="350"/>
                                        <p:tgtEl>
                                          <p:spTgt spid="1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0" fill="hold">
                      <p:stCondLst>
                        <p:cond delay="indefinite"/>
                      </p:stCondLst>
                      <p:childTnLst>
                        <p:par>
                          <p:cTn id="131" fill="hold">
                            <p:stCondLst>
                              <p:cond delay="0"/>
                            </p:stCondLst>
                            <p:childTnLst>
                              <p:par>
                                <p:cTn id="132" presetID="22" presetClass="entr" presetSubtype="8" fill="hold" grpId="0" nodeType="click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4" dur="350"/>
                                        <p:tgtEl>
                                          <p:spTgt spid="1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5" fill="hold">
                      <p:stCondLst>
                        <p:cond delay="indefinite"/>
                      </p:stCondLst>
                      <p:childTnLst>
                        <p:par>
                          <p:cTn id="136" fill="hold">
                            <p:stCondLst>
                              <p:cond delay="0"/>
                            </p:stCondLst>
                            <p:childTnLst>
                              <p:par>
                                <p:cTn id="137" presetID="22" presetClass="entr" presetSubtype="8" fill="hold" grpId="0" nodeType="click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9" dur="350"/>
                                        <p:tgtEl>
                                          <p:spTgt spid="1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0" fill="hold">
                      <p:stCondLst>
                        <p:cond delay="indefinite"/>
                      </p:stCondLst>
                      <p:childTnLst>
                        <p:par>
                          <p:cTn id="141" fill="hold">
                            <p:stCondLst>
                              <p:cond delay="0"/>
                            </p:stCondLst>
                            <p:childTnLst>
                              <p:par>
                                <p:cTn id="142" presetID="22" presetClass="entr" presetSubtype="8" fill="hold" grpId="0" nodeType="click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4" dur="350"/>
                                        <p:tgtEl>
                                          <p:spTgt spid="1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5" fill="hold">
                      <p:stCondLst>
                        <p:cond delay="indefinite"/>
                      </p:stCondLst>
                      <p:childTnLst>
                        <p:par>
                          <p:cTn id="146" fill="hold">
                            <p:stCondLst>
                              <p:cond delay="0"/>
                            </p:stCondLst>
                            <p:childTnLst>
                              <p:par>
                                <p:cTn id="147" presetID="22" presetClass="entr" presetSubtype="8" fill="hold" grpId="0" nodeType="click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9" dur="350"/>
                                        <p:tgtEl>
                                          <p:spTgt spid="1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8" grpId="0" animBg="1"/>
      <p:bldP spid="9" grpId="0"/>
      <p:bldP spid="10" grpId="0" build="p"/>
      <p:bldP spid="11" grpId="0" animBg="1"/>
      <p:bldP spid="12" grpId="0"/>
      <p:bldP spid="13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008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4008" y="0"/>
            <a:ext cx="12124944" cy="1188720"/>
          </a:xfrm>
          <a:prstGeom prst="rect">
            <a:avLst/>
          </a:prstGeom>
          <a:solidFill>
            <a:srgbClr val="162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28016"/>
            <a:ext cx="11457432" cy="566928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2800" b="1" i="0">
                <a:solidFill>
                  <a:srgbClr val="00C9A7"/>
                </a:solidFill>
              </a:rPr>
              <a:t>Technology 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94944"/>
            <a:ext cx="11457432" cy="347472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400" b="0" i="0">
                <a:solidFill>
                  <a:srgbClr val="CCD6E0"/>
                </a:solidFill>
              </a:rPr>
              <a:t>Tools &amp; Frameworks Used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115568"/>
            <a:ext cx="4114800" cy="45720"/>
          </a:xfrm>
          <a:prstGeom prst="rect">
            <a:avLst/>
          </a:prstGeom>
          <a:solidFill>
            <a:srgbClr val="008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543032" y="6400800"/>
            <a:ext cx="1280160" cy="27432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100" b="0" i="0">
                <a:solidFill>
                  <a:srgbClr val="CCD6E0"/>
                </a:solidFill>
              </a:rPr>
              <a:t>7 / 10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508760"/>
            <a:ext cx="5500116" cy="2148840"/>
          </a:xfrm>
          <a:prstGeom prst="rect">
            <a:avLst/>
          </a:prstGeom>
          <a:solidFill>
            <a:srgbClr val="162B3F"/>
          </a:solidFill>
          <a:ln w="22860">
            <a:solidFill>
              <a:srgbClr val="00C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1618488"/>
            <a:ext cx="5225796" cy="420624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600" b="1" i="0">
                <a:solidFill>
                  <a:srgbClr val="00C9A7"/>
                </a:solidFill>
              </a:rPr>
              <a:t>🌐  Frontend</a:t>
            </a:r>
            <a:endParaRPr sz="1600"/>
          </a:p>
        </p:txBody>
      </p:sp>
      <p:sp>
        <p:nvSpPr>
          <p:cNvPr id="10" name="Rectangle 9"/>
          <p:cNvSpPr/>
          <p:nvPr/>
        </p:nvSpPr>
        <p:spPr>
          <a:xfrm>
            <a:off x="685800" y="2093976"/>
            <a:ext cx="5042916" cy="36576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94360" y="2203704"/>
            <a:ext cx="5225796" cy="1344168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110490" indent="-110490"/>
            <a:r>
              <a:rPr sz="1500" b="0">
                <a:solidFill>
                  <a:srgbClr val="FFFFFF"/>
                </a:solidFill>
              </a:rPr>
              <a:t>• HTML5 + CSS3 (Bootstrap 5)</a:t>
            </a:r>
            <a:endParaRPr sz="1500"/>
          </a:p>
          <a:p>
            <a:pPr marL="110490" indent="-110490">
              <a:spcBef>
                <a:spcPts val="300"/>
              </a:spcBef>
            </a:pPr>
            <a:r>
              <a:rPr sz="1500" b="0">
                <a:solidFill>
                  <a:srgbClr val="FFFFFF"/>
                </a:solidFill>
              </a:rPr>
              <a:t>• JavaScript (Fetch API)</a:t>
            </a:r>
            <a:endParaRPr sz="1500"/>
          </a:p>
          <a:p>
            <a:pPr marL="110490" indent="-110490">
              <a:spcBef>
                <a:spcPts val="300"/>
              </a:spcBef>
            </a:pPr>
            <a:r>
              <a:rPr sz="1500" b="0">
                <a:solidFill>
                  <a:srgbClr val="FFFFFF"/>
                </a:solidFill>
              </a:rPr>
              <a:t>• DOM Manipulation</a:t>
            </a:r>
            <a:endParaRPr sz="1500"/>
          </a:p>
          <a:p>
            <a:pPr marL="110490" indent="-110490">
              <a:spcBef>
                <a:spcPts val="300"/>
              </a:spcBef>
            </a:pPr>
            <a:r>
              <a:rPr sz="1500" b="0">
                <a:solidFill>
                  <a:srgbClr val="FFFFFF"/>
                </a:solidFill>
              </a:rPr>
              <a:t>• Case 1: Pure client-side JS</a:t>
            </a:r>
            <a:endParaRPr sz="1500"/>
          </a:p>
          <a:p>
            <a:pPr marL="110490" indent="-110490">
              <a:spcBef>
                <a:spcPts val="300"/>
              </a:spcBef>
            </a:pPr>
            <a:r>
              <a:rPr sz="1500" b="0">
                <a:solidFill>
                  <a:srgbClr val="FFFFFF"/>
                </a:solidFill>
              </a:rPr>
              <a:t>• Case 2: AJAX to Flask API</a:t>
            </a:r>
            <a:endParaRPr sz="1500"/>
          </a:p>
        </p:txBody>
      </p:sp>
      <p:sp>
        <p:nvSpPr>
          <p:cNvPr id="12" name="Rectangle 11"/>
          <p:cNvSpPr/>
          <p:nvPr/>
        </p:nvSpPr>
        <p:spPr>
          <a:xfrm>
            <a:off x="6231636" y="1508760"/>
            <a:ext cx="5500116" cy="2148840"/>
          </a:xfrm>
          <a:prstGeom prst="rect">
            <a:avLst/>
          </a:prstGeom>
          <a:solidFill>
            <a:srgbClr val="162B3F"/>
          </a:solidFill>
          <a:ln w="22860">
            <a:solidFill>
              <a:srgbClr val="008B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368796" y="1618488"/>
            <a:ext cx="5225796" cy="420624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600" b="1" i="0">
                <a:solidFill>
                  <a:srgbClr val="008BD8"/>
                </a:solidFill>
              </a:rPr>
              <a:t>⚙️  Backend</a:t>
            </a:r>
            <a:endParaRPr sz="1600"/>
          </a:p>
        </p:txBody>
      </p:sp>
      <p:sp>
        <p:nvSpPr>
          <p:cNvPr id="14" name="Rectangle 13"/>
          <p:cNvSpPr/>
          <p:nvPr/>
        </p:nvSpPr>
        <p:spPr>
          <a:xfrm>
            <a:off x="6460236" y="2093976"/>
            <a:ext cx="5042916" cy="36576"/>
          </a:xfrm>
          <a:prstGeom prst="rect">
            <a:avLst/>
          </a:prstGeom>
          <a:solidFill>
            <a:srgbClr val="008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68796" y="2203704"/>
            <a:ext cx="5225796" cy="1344168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110490" indent="-110490"/>
            <a:r>
              <a:rPr sz="1500" b="0">
                <a:solidFill>
                  <a:srgbClr val="FFFFFF"/>
                </a:solidFill>
              </a:rPr>
              <a:t>• Python 3.13</a:t>
            </a:r>
            <a:endParaRPr sz="1500"/>
          </a:p>
          <a:p>
            <a:pPr marL="110490" indent="-110490">
              <a:spcBef>
                <a:spcPts val="300"/>
              </a:spcBef>
            </a:pPr>
            <a:r>
              <a:rPr sz="1500" b="0">
                <a:solidFill>
                  <a:srgbClr val="FFFFFF"/>
                </a:solidFill>
              </a:rPr>
              <a:t>• Flask Web Framework</a:t>
            </a:r>
            <a:endParaRPr sz="1500"/>
          </a:p>
          <a:p>
            <a:pPr marL="110490" indent="-110490">
              <a:spcBef>
                <a:spcPts val="300"/>
              </a:spcBef>
            </a:pPr>
            <a:r>
              <a:rPr sz="1500" b="0">
                <a:solidFill>
                  <a:srgbClr val="FFFFFF"/>
                </a:solidFill>
              </a:rPr>
              <a:t>• REST API (/schedule)</a:t>
            </a:r>
            <a:endParaRPr sz="1500"/>
          </a:p>
          <a:p>
            <a:pPr marL="110490" indent="-110490">
              <a:spcBef>
                <a:spcPts val="300"/>
              </a:spcBef>
            </a:pPr>
            <a:r>
              <a:rPr sz="1500" b="0">
                <a:solidFill>
                  <a:srgbClr val="FFFFFF"/>
                </a:solidFill>
              </a:rPr>
              <a:t>• JSON request/response</a:t>
            </a:r>
            <a:endParaRPr sz="1500"/>
          </a:p>
          <a:p>
            <a:pPr marL="110490" indent="-110490">
              <a:spcBef>
                <a:spcPts val="300"/>
              </a:spcBef>
            </a:pPr>
            <a:r>
              <a:rPr sz="1500" b="0">
                <a:solidFill>
                  <a:srgbClr val="FFFFFF"/>
                </a:solidFill>
              </a:rPr>
              <a:t>• Logging &amp; Error Handling</a:t>
            </a:r>
            <a:endParaRPr sz="1500"/>
          </a:p>
        </p:txBody>
      </p:sp>
      <p:sp>
        <p:nvSpPr>
          <p:cNvPr id="16" name="Rectangle 15"/>
          <p:cNvSpPr/>
          <p:nvPr/>
        </p:nvSpPr>
        <p:spPr>
          <a:xfrm>
            <a:off x="457200" y="3931920"/>
            <a:ext cx="5500116" cy="2148840"/>
          </a:xfrm>
          <a:prstGeom prst="rect">
            <a:avLst/>
          </a:prstGeom>
          <a:solidFill>
            <a:srgbClr val="162B3F"/>
          </a:solidFill>
          <a:ln w="22860">
            <a:solidFill>
              <a:srgbClr val="FFD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94360" y="4041648"/>
            <a:ext cx="5225796" cy="420624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600" b="1" i="0">
                <a:solidFill>
                  <a:srgbClr val="FFD600"/>
                </a:solidFill>
              </a:rPr>
              <a:t>🤖  ML / AI</a:t>
            </a:r>
            <a:endParaRPr sz="1600"/>
          </a:p>
        </p:txBody>
      </p:sp>
      <p:sp>
        <p:nvSpPr>
          <p:cNvPr id="18" name="Rectangle 17"/>
          <p:cNvSpPr/>
          <p:nvPr/>
        </p:nvSpPr>
        <p:spPr>
          <a:xfrm>
            <a:off x="685800" y="4517136"/>
            <a:ext cx="5042916" cy="36576"/>
          </a:xfrm>
          <a:prstGeom prst="rect">
            <a:avLst/>
          </a:prstGeom>
          <a:solidFill>
            <a:srgbClr val="FFD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94360" y="4626864"/>
            <a:ext cx="5225796" cy="1344168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110490" indent="-110490"/>
            <a:r>
              <a:rPr sz="1500" b="0">
                <a:solidFill>
                  <a:srgbClr val="FFFFFF"/>
                </a:solidFill>
              </a:rPr>
              <a:t>• scikit-learn (RandomForest)</a:t>
            </a:r>
            <a:endParaRPr sz="1500"/>
          </a:p>
          <a:p>
            <a:pPr marL="110490" indent="-110490">
              <a:spcBef>
                <a:spcPts val="300"/>
              </a:spcBef>
            </a:pPr>
            <a:r>
              <a:rPr sz="1500" b="0">
                <a:solidFill>
                  <a:srgbClr val="FFFFFF"/>
                </a:solidFill>
              </a:rPr>
              <a:t>• joblib (model persistence)</a:t>
            </a:r>
            <a:endParaRPr sz="1500"/>
          </a:p>
          <a:p>
            <a:pPr marL="110490" indent="-110490">
              <a:spcBef>
                <a:spcPts val="300"/>
              </a:spcBef>
            </a:pPr>
            <a:r>
              <a:rPr sz="1500" b="0">
                <a:solidFill>
                  <a:srgbClr val="FFFFFF"/>
                </a:solidFill>
              </a:rPr>
              <a:t>• stable-baselines3 (PPO)</a:t>
            </a:r>
            <a:endParaRPr sz="1500"/>
          </a:p>
          <a:p>
            <a:pPr marL="110490" indent="-110490">
              <a:spcBef>
                <a:spcPts val="300"/>
              </a:spcBef>
            </a:pPr>
            <a:r>
              <a:rPr sz="1500" b="0">
                <a:solidFill>
                  <a:srgbClr val="FFFFFF"/>
                </a:solidFill>
              </a:rPr>
              <a:t>• gymnasium (RL environment)</a:t>
            </a:r>
            <a:endParaRPr sz="1500"/>
          </a:p>
          <a:p>
            <a:pPr marL="110490" indent="-110490">
              <a:spcBef>
                <a:spcPts val="300"/>
              </a:spcBef>
            </a:pPr>
            <a:r>
              <a:rPr sz="1500" b="0">
                <a:solidFill>
                  <a:srgbClr val="FFFFFF"/>
                </a:solidFill>
              </a:rPr>
              <a:t>• PyTorch (neural policy)</a:t>
            </a:r>
            <a:endParaRPr sz="1500"/>
          </a:p>
        </p:txBody>
      </p:sp>
      <p:sp>
        <p:nvSpPr>
          <p:cNvPr id="20" name="Rectangle 19"/>
          <p:cNvSpPr/>
          <p:nvPr/>
        </p:nvSpPr>
        <p:spPr>
          <a:xfrm>
            <a:off x="6231636" y="3931920"/>
            <a:ext cx="5500116" cy="2148840"/>
          </a:xfrm>
          <a:prstGeom prst="rect">
            <a:avLst/>
          </a:prstGeom>
          <a:solidFill>
            <a:srgbClr val="162B3F"/>
          </a:solidFill>
          <a:ln w="22860">
            <a:solidFill>
              <a:srgbClr val="00C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368796" y="4041648"/>
            <a:ext cx="5225796" cy="420624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600" b="1" i="0">
                <a:solidFill>
                  <a:srgbClr val="00C9A7"/>
                </a:solidFill>
              </a:rPr>
              <a:t>📦  Data &amp; Storage</a:t>
            </a:r>
            <a:endParaRPr sz="1600"/>
          </a:p>
        </p:txBody>
      </p:sp>
      <p:sp>
        <p:nvSpPr>
          <p:cNvPr id="22" name="Rectangle 21"/>
          <p:cNvSpPr/>
          <p:nvPr/>
        </p:nvSpPr>
        <p:spPr>
          <a:xfrm>
            <a:off x="6460236" y="4517136"/>
            <a:ext cx="5042916" cy="36576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368796" y="4626864"/>
            <a:ext cx="5225796" cy="1344168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110490" indent="-110490"/>
            <a:r>
              <a:rPr sz="1500" b="0">
                <a:solidFill>
                  <a:srgbClr val="FFFFFF"/>
                </a:solidFill>
              </a:rPr>
              <a:t>• pandas + numpy</a:t>
            </a:r>
            <a:endParaRPr sz="1500"/>
          </a:p>
          <a:p>
            <a:pPr marL="110490" indent="-110490">
              <a:spcBef>
                <a:spcPts val="300"/>
              </a:spcBef>
            </a:pPr>
            <a:r>
              <a:rPr sz="1500" b="0">
                <a:solidFill>
                  <a:srgbClr val="FFFFFF"/>
                </a:solidFill>
              </a:rPr>
              <a:t>• process_data.csv (6,600+ rows)</a:t>
            </a:r>
            <a:endParaRPr sz="1500"/>
          </a:p>
          <a:p>
            <a:pPr marL="110490" indent="-110490">
              <a:spcBef>
                <a:spcPts val="300"/>
              </a:spcBef>
            </a:pPr>
            <a:r>
              <a:rPr sz="1500" b="0">
                <a:solidFill>
                  <a:srgbClr val="FFFFFF"/>
                </a:solidFill>
              </a:rPr>
              <a:t>• burst_time_predictor.joblib</a:t>
            </a:r>
            <a:endParaRPr sz="1500"/>
          </a:p>
          <a:p>
            <a:pPr marL="110490" indent="-110490">
              <a:spcBef>
                <a:spcPts val="300"/>
              </a:spcBef>
            </a:pPr>
            <a:r>
              <a:rPr sz="1500" b="0">
                <a:solidFill>
                  <a:srgbClr val="FFFFFF"/>
                </a:solidFill>
              </a:rPr>
              <a:t>• feature_scaler.joblib</a:t>
            </a:r>
            <a:endParaRPr sz="1500"/>
          </a:p>
          <a:p>
            <a:pPr marL="110490" indent="-110490">
              <a:spcBef>
                <a:spcPts val="300"/>
              </a:spcBef>
            </a:pPr>
            <a:r>
              <a:rPr sz="1500" b="0">
                <a:solidFill>
                  <a:srgbClr val="FFFFFF"/>
                </a:solidFill>
              </a:rPr>
              <a:t>• rl_scheduler_model.zip</a:t>
            </a:r>
            <a:endParaRPr sz="150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6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71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8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ntr" presetSubtype="8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350"/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22" presetClass="entr" presetSubtype="8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350"/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2" presetClass="entr" presetSubtype="8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350"/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22" presetClass="entr" presetSubtype="8" fill="hold" grpId="0" nodeType="withEffect">
                                  <p:stCondLst>
                                    <p:cond delay="81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350"/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2" presetClass="entr" presetSubtype="8" fill="hold" grpId="0" nodeType="withEffect">
                                  <p:stCondLst>
                                    <p:cond delay="9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350"/>
                                        <p:tgtEl>
                                          <p:spTgt spid="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22" presetClass="entr" presetSubtype="8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350"/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22" presetClass="entr" presetSubtype="8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350"/>
                                        <p:tgtEl>
                                          <p:spTgt spid="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grpId="0" nodeType="withEffect">
                                  <p:stCondLst>
                                    <p:cond delay="89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350"/>
                                        <p:tgtEl>
                                          <p:spTgt spid="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22" presetClass="entr" presetSubtype="8" fill="hold" grpId="0" nodeType="withEffect">
                                  <p:stCondLst>
                                    <p:cond delay="106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350"/>
                                        <p:tgtEl>
                                          <p:spTgt spid="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22" presetClass="entr" presetSubtype="8" fill="hold" grpId="0" nodeType="withEffect">
                                  <p:stCondLst>
                                    <p:cond delay="123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350"/>
                                        <p:tgtEl>
                                          <p:spTgt spid="1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2350"/>
                            </p:stCondLst>
                            <p:childTnLst>
                              <p:par>
                                <p:cTn id="6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22" presetClass="entr" presetSubtype="8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9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22" presetClass="entr" presetSubtype="8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35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22" presetClass="entr" presetSubtype="8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5" dur="350"/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22" presetClass="entr" presetSubtype="8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8" dur="350"/>
                                        <p:tgtEl>
                                          <p:spTgt spid="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22" presetClass="entr" presetSubtype="8" fill="hold" grpId="0" nodeType="withEffect">
                                  <p:stCondLst>
                                    <p:cond delay="81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1" dur="350"/>
                                        <p:tgtEl>
                                          <p:spTgt spid="1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22" presetClass="entr" presetSubtype="8" fill="hold" grpId="0" nodeType="withEffect">
                                  <p:stCondLst>
                                    <p:cond delay="98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4" dur="350"/>
                                        <p:tgtEl>
                                          <p:spTgt spid="1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22" presetClass="entr" presetSubtype="8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3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22" presetClass="entr" presetSubtype="8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6" dur="350"/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22" presetClass="entr" presetSubtype="8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9" dur="350"/>
                                        <p:tgtEl>
                                          <p:spTgt spid="2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22" presetClass="entr" presetSubtype="8" fill="hold" grpId="0" nodeType="withEffect">
                                  <p:stCondLst>
                                    <p:cond delay="89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2" dur="350"/>
                                        <p:tgtEl>
                                          <p:spTgt spid="2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22" presetClass="entr" presetSubtype="8" fill="hold" grpId="0" nodeType="withEffect">
                                  <p:stCondLst>
                                    <p:cond delay="106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5" dur="350"/>
                                        <p:tgtEl>
                                          <p:spTgt spid="2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22" presetClass="entr" presetSubtype="8" fill="hold" grpId="0" nodeType="withEffect">
                                  <p:stCondLst>
                                    <p:cond delay="123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8" dur="350"/>
                                        <p:tgtEl>
                                          <p:spTgt spid="2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8" grpId="0" animBg="1"/>
      <p:bldP spid="9" grpId="0"/>
      <p:bldP spid="10" grpId="0" animBg="1"/>
      <p:bldP spid="11" grpId="0" build="p"/>
      <p:bldP spid="12" grpId="0" animBg="1"/>
      <p:bldP spid="13" grpId="0"/>
      <p:bldP spid="14" grpId="0" animBg="1"/>
      <p:bldP spid="15" grpId="0" build="p"/>
      <p:bldP spid="16" grpId="0" animBg="1"/>
      <p:bldP spid="17" grpId="0"/>
      <p:bldP spid="18" grpId="0" animBg="1"/>
      <p:bldP spid="19" grpId="0" build="p"/>
      <p:bldP spid="20" grpId="0" animBg="1"/>
      <p:bldP spid="21" grpId="0"/>
      <p:bldP spid="22" grpId="0" animBg="1"/>
      <p:bldP spid="23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008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4008" y="0"/>
            <a:ext cx="12124944" cy="1188720"/>
          </a:xfrm>
          <a:prstGeom prst="rect">
            <a:avLst/>
          </a:prstGeom>
          <a:solidFill>
            <a:srgbClr val="162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28016"/>
            <a:ext cx="11457432" cy="566928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2800" b="1" i="0">
                <a:solidFill>
                  <a:srgbClr val="00C9A7"/>
                </a:solidFill>
              </a:rPr>
              <a:t>Traditional Scheduling Algorithms (Case 1)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94944"/>
            <a:ext cx="11457432" cy="347472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400" b="0" i="0">
                <a:solidFill>
                  <a:srgbClr val="CCD6E0"/>
                </a:solidFill>
              </a:rPr>
              <a:t>FCFS · SJF · Round Robin — Simulated in Browser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115568"/>
            <a:ext cx="4114800" cy="45720"/>
          </a:xfrm>
          <a:prstGeom prst="rect">
            <a:avLst/>
          </a:prstGeom>
          <a:solidFill>
            <a:srgbClr val="008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543032" y="6400800"/>
            <a:ext cx="1280160" cy="27432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100" b="0" i="0">
                <a:solidFill>
                  <a:srgbClr val="CCD6E0"/>
                </a:solidFill>
              </a:rPr>
              <a:t>8 / 10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508760"/>
            <a:ext cx="3575304" cy="3474720"/>
          </a:xfrm>
          <a:prstGeom prst="rect">
            <a:avLst/>
          </a:prstGeom>
          <a:solidFill>
            <a:srgbClr val="162B3F"/>
          </a:solidFill>
          <a:ln w="22860">
            <a:solidFill>
              <a:srgbClr val="008B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40" y="1618488"/>
            <a:ext cx="3392424" cy="73152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3800" b="1" i="0">
                <a:solidFill>
                  <a:srgbClr val="00C9A7"/>
                </a:solidFill>
              </a:rPr>
              <a:t>FCFS</a:t>
            </a:r>
            <a:endParaRPr sz="3800"/>
          </a:p>
        </p:txBody>
      </p:sp>
      <p:sp>
        <p:nvSpPr>
          <p:cNvPr id="10" name="TextBox 9"/>
          <p:cNvSpPr txBox="1"/>
          <p:nvPr/>
        </p:nvSpPr>
        <p:spPr>
          <a:xfrm>
            <a:off x="548640" y="2350008"/>
            <a:ext cx="3392424" cy="41148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1500" b="1" i="0">
                <a:solidFill>
                  <a:srgbClr val="008BD8"/>
                </a:solidFill>
              </a:rPr>
              <a:t>First Come First Serve</a:t>
            </a:r>
            <a:endParaRPr sz="1500"/>
          </a:p>
        </p:txBody>
      </p:sp>
      <p:sp>
        <p:nvSpPr>
          <p:cNvPr id="11" name="Rectangle 10"/>
          <p:cNvSpPr/>
          <p:nvPr/>
        </p:nvSpPr>
        <p:spPr>
          <a:xfrm>
            <a:off x="731520" y="2862072"/>
            <a:ext cx="3026664" cy="36576"/>
          </a:xfrm>
          <a:prstGeom prst="rect">
            <a:avLst/>
          </a:prstGeom>
          <a:solidFill>
            <a:srgbClr val="008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48640" y="2990088"/>
            <a:ext cx="3392424" cy="1901952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110490" indent="-110490" algn="l"/>
            <a:r>
              <a:rPr sz="1500" b="0" i="0">
                <a:solidFill>
                  <a:srgbClr val="CCD6E0"/>
                </a:solidFill>
              </a:rPr>
              <a:t>• Processes sorted by Arrival Time
• Non-preemptive: runs to completion
• Simple but may cause convoy effect
• Avg WT can be high with varied BT</a:t>
            </a:r>
            <a:endParaRPr sz="1500"/>
          </a:p>
        </p:txBody>
      </p:sp>
      <p:sp>
        <p:nvSpPr>
          <p:cNvPr id="13" name="Rectangle 12"/>
          <p:cNvSpPr/>
          <p:nvPr/>
        </p:nvSpPr>
        <p:spPr>
          <a:xfrm>
            <a:off x="4306824" y="1508760"/>
            <a:ext cx="3575304" cy="3474720"/>
          </a:xfrm>
          <a:prstGeom prst="rect">
            <a:avLst/>
          </a:prstGeom>
          <a:solidFill>
            <a:srgbClr val="162B3F"/>
          </a:solidFill>
          <a:ln w="22860">
            <a:solidFill>
              <a:srgbClr val="008B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398264" y="1618488"/>
            <a:ext cx="3392424" cy="73152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3800" b="1" i="0">
                <a:solidFill>
                  <a:srgbClr val="00C9A7"/>
                </a:solidFill>
              </a:rPr>
              <a:t>SJF</a:t>
            </a:r>
            <a:endParaRPr sz="3800"/>
          </a:p>
        </p:txBody>
      </p:sp>
      <p:sp>
        <p:nvSpPr>
          <p:cNvPr id="15" name="TextBox 14"/>
          <p:cNvSpPr txBox="1"/>
          <p:nvPr/>
        </p:nvSpPr>
        <p:spPr>
          <a:xfrm>
            <a:off x="4398264" y="2350008"/>
            <a:ext cx="3392424" cy="41148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1500" b="1" i="0">
                <a:solidFill>
                  <a:srgbClr val="008BD8"/>
                </a:solidFill>
              </a:rPr>
              <a:t>Shortest Job First</a:t>
            </a:r>
            <a:endParaRPr sz="1500"/>
          </a:p>
        </p:txBody>
      </p:sp>
      <p:sp>
        <p:nvSpPr>
          <p:cNvPr id="16" name="Rectangle 15"/>
          <p:cNvSpPr/>
          <p:nvPr/>
        </p:nvSpPr>
        <p:spPr>
          <a:xfrm>
            <a:off x="4581144" y="2862072"/>
            <a:ext cx="3026664" cy="36576"/>
          </a:xfrm>
          <a:prstGeom prst="rect">
            <a:avLst/>
          </a:prstGeom>
          <a:solidFill>
            <a:srgbClr val="008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398264" y="2990088"/>
            <a:ext cx="3392424" cy="1901952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110490" indent="-110490" algn="l"/>
            <a:r>
              <a:rPr sz="1500" b="0" i="0">
                <a:solidFill>
                  <a:srgbClr val="CCD6E0"/>
                </a:solidFill>
              </a:rPr>
              <a:t>• Sorted by predicted Burst Time
• Non-preemptive variant
• Minimizes average waiting time
• Requires burst time estimate</a:t>
            </a:r>
            <a:endParaRPr sz="1500"/>
          </a:p>
        </p:txBody>
      </p:sp>
      <p:sp>
        <p:nvSpPr>
          <p:cNvPr id="18" name="Rectangle 17"/>
          <p:cNvSpPr/>
          <p:nvPr/>
        </p:nvSpPr>
        <p:spPr>
          <a:xfrm>
            <a:off x="8156448" y="1508760"/>
            <a:ext cx="3575304" cy="3474720"/>
          </a:xfrm>
          <a:prstGeom prst="rect">
            <a:avLst/>
          </a:prstGeom>
          <a:solidFill>
            <a:srgbClr val="162B3F"/>
          </a:solidFill>
          <a:ln w="22860">
            <a:solidFill>
              <a:srgbClr val="008B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247888" y="1618488"/>
            <a:ext cx="3392424" cy="73152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3800" b="1" i="0">
                <a:solidFill>
                  <a:srgbClr val="00C9A7"/>
                </a:solidFill>
              </a:rPr>
              <a:t>RR</a:t>
            </a:r>
            <a:endParaRPr sz="3800"/>
          </a:p>
        </p:txBody>
      </p:sp>
      <p:sp>
        <p:nvSpPr>
          <p:cNvPr id="20" name="TextBox 19"/>
          <p:cNvSpPr txBox="1"/>
          <p:nvPr/>
        </p:nvSpPr>
        <p:spPr>
          <a:xfrm>
            <a:off x="8247888" y="2350008"/>
            <a:ext cx="3392424" cy="41148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1500" b="1" i="0">
                <a:solidFill>
                  <a:srgbClr val="008BD8"/>
                </a:solidFill>
              </a:rPr>
              <a:t>Round Robin</a:t>
            </a:r>
            <a:endParaRPr sz="1500"/>
          </a:p>
        </p:txBody>
      </p:sp>
      <p:sp>
        <p:nvSpPr>
          <p:cNvPr id="21" name="Rectangle 20"/>
          <p:cNvSpPr/>
          <p:nvPr/>
        </p:nvSpPr>
        <p:spPr>
          <a:xfrm>
            <a:off x="8430768" y="2862072"/>
            <a:ext cx="3026664" cy="36576"/>
          </a:xfrm>
          <a:prstGeom prst="rect">
            <a:avLst/>
          </a:prstGeom>
          <a:solidFill>
            <a:srgbClr val="008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247888" y="2990088"/>
            <a:ext cx="3392424" cy="1901952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110490" indent="-110490" algn="l"/>
            <a:r>
              <a:rPr sz="1500" b="0" i="0">
                <a:solidFill>
                  <a:srgbClr val="CCD6E0"/>
                </a:solidFill>
              </a:rPr>
              <a:t>• Preemptive time-sharing scheduler
• Configurable Time Quantum (default 4)
• Fair CPU distribution
• Context switch overhead applies</a:t>
            </a:r>
            <a:endParaRPr sz="1500"/>
          </a:p>
        </p:txBody>
      </p:sp>
      <p:sp>
        <p:nvSpPr>
          <p:cNvPr id="24" name="Note Panel"/>
          <p:cNvSpPr/>
          <p:nvPr/>
        </p:nvSpPr>
        <p:spPr>
          <a:xfrm>
            <a:off x="457200" y="5257800"/>
            <a:ext cx="11274552" cy="731520"/>
          </a:xfrm>
          <a:prstGeom prst="rect">
            <a:avLst/>
          </a:prstGeom>
          <a:solidFill>
            <a:srgbClr val="162B3F"/>
          </a:solidFill>
          <a:ln w="22860">
            <a:solidFill>
              <a:srgbClr val="008B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94360" y="5303520"/>
            <a:ext cx="11000232" cy="64008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1500" b="0" i="0">
                <a:solidFill>
                  <a:srgbClr val="FFD600"/>
                </a:solidFill>
              </a:rPr>
              <a:t>📌  Output Metrics computed for all algorithms:  Completion Time · Turnaround Time · Waiting Time · Throughput · CPU Utilization</a:t>
            </a:r>
            <a:endParaRPr sz="150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6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71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ntr" presetSubtype="8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22" presetClass="entr" presetSubtype="8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35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22" presetClass="entr" presetSubtype="8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2" presetClass="entr" presetSubtype="8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35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22" presetClass="entr" presetSubtype="8" fill="hold" grpId="0" nodeType="withEffect">
                                  <p:stCondLst>
                                    <p:cond delay="85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350"/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1970"/>
                            </p:stCondLst>
                            <p:childTnLst>
                              <p:par>
                                <p:cTn id="5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8" grpId="0" animBg="1"/>
      <p:bldP spid="9" grpId="0"/>
      <p:bldP spid="10" grpId="0"/>
      <p:bldP spid="11" grpId="0" animBg="1"/>
      <p:bldP spid="12" grpId="0" build="p"/>
      <p:bldP spid="13" grpId="0" animBg="1"/>
      <p:bldP spid="14" grpId="0"/>
      <p:bldP spid="15" grpId="0"/>
      <p:bldP spid="16" grpId="0" animBg="1"/>
      <p:bldP spid="17" grpId="0" build="p"/>
      <p:bldP spid="18" grpId="0" animBg="1"/>
      <p:bldP spid="19" grpId="0"/>
      <p:bldP spid="20" grpId="0"/>
      <p:bldP spid="21" grpId="0" animBg="1"/>
      <p:bldP spid="22" grpId="0" build="p"/>
      <p:bldP spid="24" grpId="0" animBg="1"/>
      <p:bldP spid="23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008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4008" y="0"/>
            <a:ext cx="12124944" cy="1188720"/>
          </a:xfrm>
          <a:prstGeom prst="rect">
            <a:avLst/>
          </a:prstGeom>
          <a:solidFill>
            <a:srgbClr val="162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28016"/>
            <a:ext cx="11457432" cy="566928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2800" b="1" i="0">
                <a:solidFill>
                  <a:srgbClr val="00C9A7"/>
                </a:solidFill>
              </a:rPr>
              <a:t>Results &amp;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94944"/>
            <a:ext cx="11457432" cy="347472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400" b="0" i="0">
                <a:solidFill>
                  <a:srgbClr val="CCD6E0"/>
                </a:solidFill>
              </a:rPr>
              <a:t>AI Scheduler vs Traditional Algorithms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115568"/>
            <a:ext cx="4114800" cy="45720"/>
          </a:xfrm>
          <a:prstGeom prst="rect">
            <a:avLst/>
          </a:prstGeom>
          <a:solidFill>
            <a:srgbClr val="008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543032" y="6400800"/>
            <a:ext cx="1280160" cy="27432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100" b="0" i="0">
                <a:solidFill>
                  <a:srgbClr val="CCD6E0"/>
                </a:solidFill>
              </a:rPr>
              <a:t>9 / 10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508760"/>
            <a:ext cx="2651760" cy="475488"/>
          </a:xfrm>
          <a:prstGeom prst="rect">
            <a:avLst/>
          </a:prstGeom>
          <a:solidFill>
            <a:srgbClr val="008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1508760"/>
            <a:ext cx="2651760" cy="475488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Metric</a:t>
            </a:r>
            <a:endParaRPr sz="1400"/>
          </a:p>
        </p:txBody>
      </p:sp>
      <p:sp>
        <p:nvSpPr>
          <p:cNvPr id="10" name="Rectangle 9"/>
          <p:cNvSpPr/>
          <p:nvPr/>
        </p:nvSpPr>
        <p:spPr>
          <a:xfrm>
            <a:off x="3163824" y="1508760"/>
            <a:ext cx="2011680" cy="475488"/>
          </a:xfrm>
          <a:prstGeom prst="rect">
            <a:avLst/>
          </a:prstGeom>
          <a:solidFill>
            <a:srgbClr val="008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163824" y="1508760"/>
            <a:ext cx="2011680" cy="475488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FCFS</a:t>
            </a:r>
            <a:endParaRPr sz="1400"/>
          </a:p>
        </p:txBody>
      </p:sp>
      <p:sp>
        <p:nvSpPr>
          <p:cNvPr id="12" name="Rectangle 11"/>
          <p:cNvSpPr/>
          <p:nvPr/>
        </p:nvSpPr>
        <p:spPr>
          <a:xfrm>
            <a:off x="5230368" y="1508760"/>
            <a:ext cx="2011680" cy="475488"/>
          </a:xfrm>
          <a:prstGeom prst="rect">
            <a:avLst/>
          </a:prstGeom>
          <a:solidFill>
            <a:srgbClr val="008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230368" y="1508760"/>
            <a:ext cx="2011680" cy="475488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SJF</a:t>
            </a:r>
            <a:endParaRPr sz="1400"/>
          </a:p>
        </p:txBody>
      </p:sp>
      <p:sp>
        <p:nvSpPr>
          <p:cNvPr id="14" name="Rectangle 13"/>
          <p:cNvSpPr/>
          <p:nvPr/>
        </p:nvSpPr>
        <p:spPr>
          <a:xfrm>
            <a:off x="7296912" y="1508760"/>
            <a:ext cx="2011680" cy="475488"/>
          </a:xfrm>
          <a:prstGeom prst="rect">
            <a:avLst/>
          </a:prstGeom>
          <a:solidFill>
            <a:srgbClr val="008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296912" y="1508760"/>
            <a:ext cx="2011680" cy="475488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Round Robin</a:t>
            </a:r>
            <a:endParaRPr sz="1400"/>
          </a:p>
        </p:txBody>
      </p:sp>
      <p:sp>
        <p:nvSpPr>
          <p:cNvPr id="16" name="Rectangle 15"/>
          <p:cNvSpPr/>
          <p:nvPr/>
        </p:nvSpPr>
        <p:spPr>
          <a:xfrm>
            <a:off x="9363456" y="1508760"/>
            <a:ext cx="2368296" cy="475488"/>
          </a:xfrm>
          <a:prstGeom prst="rect">
            <a:avLst/>
          </a:prstGeom>
          <a:solidFill>
            <a:srgbClr val="008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363456" y="1508760"/>
            <a:ext cx="2368296" cy="475488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AI Scheduler (PPO)</a:t>
            </a:r>
            <a:endParaRPr sz="1400"/>
          </a:p>
        </p:txBody>
      </p:sp>
      <p:sp>
        <p:nvSpPr>
          <p:cNvPr id="18" name="Rectangle 17"/>
          <p:cNvSpPr/>
          <p:nvPr/>
        </p:nvSpPr>
        <p:spPr>
          <a:xfrm>
            <a:off x="457200" y="2039112"/>
            <a:ext cx="2651760" cy="475488"/>
          </a:xfrm>
          <a:prstGeom prst="rect">
            <a:avLst/>
          </a:prstGeom>
          <a:solidFill>
            <a:srgbClr val="162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57200" y="2039112"/>
            <a:ext cx="2651760" cy="475488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Avg Waiting Time</a:t>
            </a:r>
            <a:endParaRPr sz="1400"/>
          </a:p>
        </p:txBody>
      </p:sp>
      <p:sp>
        <p:nvSpPr>
          <p:cNvPr id="20" name="Rectangle 19"/>
          <p:cNvSpPr/>
          <p:nvPr/>
        </p:nvSpPr>
        <p:spPr>
          <a:xfrm>
            <a:off x="3163824" y="2039112"/>
            <a:ext cx="2011680" cy="475488"/>
          </a:xfrm>
          <a:prstGeom prst="rect">
            <a:avLst/>
          </a:prstGeom>
          <a:solidFill>
            <a:srgbClr val="162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163824" y="2039112"/>
            <a:ext cx="2011680" cy="475488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1400" b="0" i="0">
                <a:solidFill>
                  <a:srgbClr val="CCD6E0"/>
                </a:solidFill>
              </a:rPr>
              <a:t>High</a:t>
            </a:r>
            <a:endParaRPr sz="1400"/>
          </a:p>
        </p:txBody>
      </p:sp>
      <p:sp>
        <p:nvSpPr>
          <p:cNvPr id="22" name="Rectangle 21"/>
          <p:cNvSpPr/>
          <p:nvPr/>
        </p:nvSpPr>
        <p:spPr>
          <a:xfrm>
            <a:off x="5230368" y="2039112"/>
            <a:ext cx="2011680" cy="475488"/>
          </a:xfrm>
          <a:prstGeom prst="rect">
            <a:avLst/>
          </a:prstGeom>
          <a:solidFill>
            <a:srgbClr val="162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230368" y="2039112"/>
            <a:ext cx="2011680" cy="475488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1400" b="0" i="0">
                <a:solidFill>
                  <a:srgbClr val="CCD6E0"/>
                </a:solidFill>
              </a:rPr>
              <a:t>Medium</a:t>
            </a:r>
            <a:endParaRPr sz="1400"/>
          </a:p>
        </p:txBody>
      </p:sp>
      <p:sp>
        <p:nvSpPr>
          <p:cNvPr id="24" name="Rectangle 23"/>
          <p:cNvSpPr/>
          <p:nvPr/>
        </p:nvSpPr>
        <p:spPr>
          <a:xfrm>
            <a:off x="7296912" y="2039112"/>
            <a:ext cx="2011680" cy="475488"/>
          </a:xfrm>
          <a:prstGeom prst="rect">
            <a:avLst/>
          </a:prstGeom>
          <a:solidFill>
            <a:srgbClr val="162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296912" y="2039112"/>
            <a:ext cx="2011680" cy="475488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1400" b="0" i="0">
                <a:solidFill>
                  <a:srgbClr val="CCD6E0"/>
                </a:solidFill>
              </a:rPr>
              <a:t>Medium</a:t>
            </a:r>
            <a:endParaRPr sz="1400"/>
          </a:p>
        </p:txBody>
      </p:sp>
      <p:sp>
        <p:nvSpPr>
          <p:cNvPr id="26" name="Rectangle 25"/>
          <p:cNvSpPr/>
          <p:nvPr/>
        </p:nvSpPr>
        <p:spPr>
          <a:xfrm>
            <a:off x="9363456" y="2039112"/>
            <a:ext cx="2368296" cy="475488"/>
          </a:xfrm>
          <a:prstGeom prst="rect">
            <a:avLst/>
          </a:prstGeom>
          <a:solidFill>
            <a:srgbClr val="162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363456" y="2039112"/>
            <a:ext cx="2368296" cy="475488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1400" b="0" i="0">
                <a:solidFill>
                  <a:srgbClr val="00C9A7"/>
                </a:solidFill>
              </a:rPr>
              <a:t>✅ Lowest (Optimized)</a:t>
            </a:r>
            <a:endParaRPr sz="1400"/>
          </a:p>
        </p:txBody>
      </p:sp>
      <p:sp>
        <p:nvSpPr>
          <p:cNvPr id="28" name="Rectangle 27"/>
          <p:cNvSpPr/>
          <p:nvPr/>
        </p:nvSpPr>
        <p:spPr>
          <a:xfrm>
            <a:off x="457200" y="2569464"/>
            <a:ext cx="2651760" cy="475488"/>
          </a:xfrm>
          <a:prstGeom prst="rect">
            <a:avLst/>
          </a:prstGeom>
          <a:solidFill>
            <a:srgbClr val="122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57200" y="2569464"/>
            <a:ext cx="2651760" cy="475488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CPU Utilization</a:t>
            </a:r>
            <a:endParaRPr sz="1400"/>
          </a:p>
        </p:txBody>
      </p:sp>
      <p:sp>
        <p:nvSpPr>
          <p:cNvPr id="30" name="Rectangle 29"/>
          <p:cNvSpPr/>
          <p:nvPr/>
        </p:nvSpPr>
        <p:spPr>
          <a:xfrm>
            <a:off x="3163824" y="2569464"/>
            <a:ext cx="2011680" cy="475488"/>
          </a:xfrm>
          <a:prstGeom prst="rect">
            <a:avLst/>
          </a:prstGeom>
          <a:solidFill>
            <a:srgbClr val="122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163824" y="2569464"/>
            <a:ext cx="2011680" cy="475488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1400" b="0" i="0">
                <a:solidFill>
                  <a:srgbClr val="CCD6E0"/>
                </a:solidFill>
              </a:rPr>
              <a:t>Varied</a:t>
            </a:r>
            <a:endParaRPr sz="1400"/>
          </a:p>
        </p:txBody>
      </p:sp>
      <p:sp>
        <p:nvSpPr>
          <p:cNvPr id="32" name="Rectangle 31"/>
          <p:cNvSpPr/>
          <p:nvPr/>
        </p:nvSpPr>
        <p:spPr>
          <a:xfrm>
            <a:off x="5230368" y="2569464"/>
            <a:ext cx="2011680" cy="475488"/>
          </a:xfrm>
          <a:prstGeom prst="rect">
            <a:avLst/>
          </a:prstGeom>
          <a:solidFill>
            <a:srgbClr val="122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230368" y="2569464"/>
            <a:ext cx="2011680" cy="475488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1400" b="0" i="0">
                <a:solidFill>
                  <a:srgbClr val="CCD6E0"/>
                </a:solidFill>
              </a:rPr>
              <a:t>Medium</a:t>
            </a:r>
            <a:endParaRPr sz="1400"/>
          </a:p>
        </p:txBody>
      </p:sp>
      <p:sp>
        <p:nvSpPr>
          <p:cNvPr id="34" name="Rectangle 33"/>
          <p:cNvSpPr/>
          <p:nvPr/>
        </p:nvSpPr>
        <p:spPr>
          <a:xfrm>
            <a:off x="7296912" y="2569464"/>
            <a:ext cx="2011680" cy="475488"/>
          </a:xfrm>
          <a:prstGeom prst="rect">
            <a:avLst/>
          </a:prstGeom>
          <a:solidFill>
            <a:srgbClr val="122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296912" y="2569464"/>
            <a:ext cx="2011680" cy="475488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1400" b="0" i="0">
                <a:solidFill>
                  <a:srgbClr val="CCD6E0"/>
                </a:solidFill>
              </a:rPr>
              <a:t>Good</a:t>
            </a:r>
            <a:endParaRPr sz="1400"/>
          </a:p>
        </p:txBody>
      </p:sp>
      <p:sp>
        <p:nvSpPr>
          <p:cNvPr id="36" name="Rectangle 35"/>
          <p:cNvSpPr/>
          <p:nvPr/>
        </p:nvSpPr>
        <p:spPr>
          <a:xfrm>
            <a:off x="9363456" y="2569464"/>
            <a:ext cx="2368296" cy="475488"/>
          </a:xfrm>
          <a:prstGeom prst="rect">
            <a:avLst/>
          </a:prstGeom>
          <a:solidFill>
            <a:srgbClr val="122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9363456" y="2569464"/>
            <a:ext cx="2368296" cy="475488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1400" b="0" i="0">
                <a:solidFill>
                  <a:srgbClr val="00C9A7"/>
                </a:solidFill>
              </a:rPr>
              <a:t>✅ &gt; 90%</a:t>
            </a:r>
            <a:endParaRPr sz="1400"/>
          </a:p>
        </p:txBody>
      </p:sp>
      <p:sp>
        <p:nvSpPr>
          <p:cNvPr id="38" name="Rectangle 37"/>
          <p:cNvSpPr/>
          <p:nvPr/>
        </p:nvSpPr>
        <p:spPr>
          <a:xfrm>
            <a:off x="457200" y="3099816"/>
            <a:ext cx="2651760" cy="475488"/>
          </a:xfrm>
          <a:prstGeom prst="rect">
            <a:avLst/>
          </a:prstGeom>
          <a:solidFill>
            <a:srgbClr val="162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457200" y="3099816"/>
            <a:ext cx="2651760" cy="475488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Burst Time Known?</a:t>
            </a:r>
            <a:endParaRPr sz="1400"/>
          </a:p>
        </p:txBody>
      </p:sp>
      <p:sp>
        <p:nvSpPr>
          <p:cNvPr id="40" name="Rectangle 39"/>
          <p:cNvSpPr/>
          <p:nvPr/>
        </p:nvSpPr>
        <p:spPr>
          <a:xfrm>
            <a:off x="3163824" y="3099816"/>
            <a:ext cx="2011680" cy="475488"/>
          </a:xfrm>
          <a:prstGeom prst="rect">
            <a:avLst/>
          </a:prstGeom>
          <a:solidFill>
            <a:srgbClr val="162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3163824" y="3099816"/>
            <a:ext cx="2011680" cy="475488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1400" b="0" i="0">
                <a:solidFill>
                  <a:srgbClr val="CCD6E0"/>
                </a:solidFill>
              </a:rPr>
              <a:t>Yes</a:t>
            </a:r>
            <a:endParaRPr sz="1400"/>
          </a:p>
        </p:txBody>
      </p:sp>
      <p:sp>
        <p:nvSpPr>
          <p:cNvPr id="42" name="Rectangle 41"/>
          <p:cNvSpPr/>
          <p:nvPr/>
        </p:nvSpPr>
        <p:spPr>
          <a:xfrm>
            <a:off x="5230368" y="3099816"/>
            <a:ext cx="2011680" cy="475488"/>
          </a:xfrm>
          <a:prstGeom prst="rect">
            <a:avLst/>
          </a:prstGeom>
          <a:solidFill>
            <a:srgbClr val="162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5230368" y="3099816"/>
            <a:ext cx="2011680" cy="475488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1400" b="0" i="0">
                <a:solidFill>
                  <a:srgbClr val="CCD6E0"/>
                </a:solidFill>
              </a:rPr>
              <a:t>Yes</a:t>
            </a:r>
            <a:endParaRPr sz="1400"/>
          </a:p>
        </p:txBody>
      </p:sp>
      <p:sp>
        <p:nvSpPr>
          <p:cNvPr id="44" name="Rectangle 43"/>
          <p:cNvSpPr/>
          <p:nvPr/>
        </p:nvSpPr>
        <p:spPr>
          <a:xfrm>
            <a:off x="7296912" y="3099816"/>
            <a:ext cx="2011680" cy="475488"/>
          </a:xfrm>
          <a:prstGeom prst="rect">
            <a:avLst/>
          </a:prstGeom>
          <a:solidFill>
            <a:srgbClr val="162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7296912" y="3099816"/>
            <a:ext cx="2011680" cy="475488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1400" b="0" i="0">
                <a:solidFill>
                  <a:srgbClr val="CCD6E0"/>
                </a:solidFill>
              </a:rPr>
              <a:t>Yes</a:t>
            </a:r>
            <a:endParaRPr sz="1400"/>
          </a:p>
        </p:txBody>
      </p:sp>
      <p:sp>
        <p:nvSpPr>
          <p:cNvPr id="46" name="Rectangle 45"/>
          <p:cNvSpPr/>
          <p:nvPr/>
        </p:nvSpPr>
        <p:spPr>
          <a:xfrm>
            <a:off x="9363456" y="3099816"/>
            <a:ext cx="2368296" cy="475488"/>
          </a:xfrm>
          <a:prstGeom prst="rect">
            <a:avLst/>
          </a:prstGeom>
          <a:solidFill>
            <a:srgbClr val="162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9363456" y="3099816"/>
            <a:ext cx="2368296" cy="475488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1400" b="0" i="0">
                <a:solidFill>
                  <a:srgbClr val="00C9A7"/>
                </a:solidFill>
              </a:rPr>
              <a:t>✅ Predicted by ML</a:t>
            </a:r>
            <a:endParaRPr sz="1400"/>
          </a:p>
        </p:txBody>
      </p:sp>
      <p:sp>
        <p:nvSpPr>
          <p:cNvPr id="48" name="Rectangle 47"/>
          <p:cNvSpPr/>
          <p:nvPr/>
        </p:nvSpPr>
        <p:spPr>
          <a:xfrm>
            <a:off x="457200" y="3630168"/>
            <a:ext cx="2651760" cy="475488"/>
          </a:xfrm>
          <a:prstGeom prst="rect">
            <a:avLst/>
          </a:prstGeom>
          <a:solidFill>
            <a:srgbClr val="122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457200" y="3630168"/>
            <a:ext cx="2651760" cy="475488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Adaptability</a:t>
            </a:r>
            <a:endParaRPr sz="1400"/>
          </a:p>
        </p:txBody>
      </p:sp>
      <p:sp>
        <p:nvSpPr>
          <p:cNvPr id="50" name="Rectangle 49"/>
          <p:cNvSpPr/>
          <p:nvPr/>
        </p:nvSpPr>
        <p:spPr>
          <a:xfrm>
            <a:off x="3163824" y="3630168"/>
            <a:ext cx="2011680" cy="475488"/>
          </a:xfrm>
          <a:prstGeom prst="rect">
            <a:avLst/>
          </a:prstGeom>
          <a:solidFill>
            <a:srgbClr val="122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3163824" y="3630168"/>
            <a:ext cx="2011680" cy="475488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1400" b="0" i="0">
                <a:solidFill>
                  <a:srgbClr val="CCD6E0"/>
                </a:solidFill>
              </a:rPr>
              <a:t>❌ Static</a:t>
            </a:r>
            <a:endParaRPr sz="1400"/>
          </a:p>
        </p:txBody>
      </p:sp>
      <p:sp>
        <p:nvSpPr>
          <p:cNvPr id="52" name="Rectangle 51"/>
          <p:cNvSpPr/>
          <p:nvPr/>
        </p:nvSpPr>
        <p:spPr>
          <a:xfrm>
            <a:off x="5230368" y="3630168"/>
            <a:ext cx="2011680" cy="475488"/>
          </a:xfrm>
          <a:prstGeom prst="rect">
            <a:avLst/>
          </a:prstGeom>
          <a:solidFill>
            <a:srgbClr val="122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5230368" y="3630168"/>
            <a:ext cx="2011680" cy="475488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1400" b="0" i="0">
                <a:solidFill>
                  <a:srgbClr val="CCD6E0"/>
                </a:solidFill>
              </a:rPr>
              <a:t>❌ Static</a:t>
            </a:r>
            <a:endParaRPr sz="1400"/>
          </a:p>
        </p:txBody>
      </p:sp>
      <p:sp>
        <p:nvSpPr>
          <p:cNvPr id="54" name="Rectangle 53"/>
          <p:cNvSpPr/>
          <p:nvPr/>
        </p:nvSpPr>
        <p:spPr>
          <a:xfrm>
            <a:off x="7296912" y="3630168"/>
            <a:ext cx="2011680" cy="475488"/>
          </a:xfrm>
          <a:prstGeom prst="rect">
            <a:avLst/>
          </a:prstGeom>
          <a:solidFill>
            <a:srgbClr val="122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7296912" y="3630168"/>
            <a:ext cx="2011680" cy="475488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1400" b="0" i="0">
                <a:solidFill>
                  <a:srgbClr val="CCD6E0"/>
                </a:solidFill>
              </a:rPr>
              <a:t>❌ Static</a:t>
            </a:r>
            <a:endParaRPr sz="1400"/>
          </a:p>
        </p:txBody>
      </p:sp>
      <p:sp>
        <p:nvSpPr>
          <p:cNvPr id="56" name="Rectangle 55"/>
          <p:cNvSpPr/>
          <p:nvPr/>
        </p:nvSpPr>
        <p:spPr>
          <a:xfrm>
            <a:off x="9363456" y="3630168"/>
            <a:ext cx="2368296" cy="475488"/>
          </a:xfrm>
          <a:prstGeom prst="rect">
            <a:avLst/>
          </a:prstGeom>
          <a:solidFill>
            <a:srgbClr val="122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9363456" y="3630168"/>
            <a:ext cx="2368296" cy="475488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1400" b="0" i="0">
                <a:solidFill>
                  <a:srgbClr val="00C9A7"/>
                </a:solidFill>
              </a:rPr>
              <a:t>✅ Learns Dynamically</a:t>
            </a:r>
            <a:endParaRPr sz="1400"/>
          </a:p>
        </p:txBody>
      </p:sp>
      <p:sp>
        <p:nvSpPr>
          <p:cNvPr id="58" name="Rectangle 57"/>
          <p:cNvSpPr/>
          <p:nvPr/>
        </p:nvSpPr>
        <p:spPr>
          <a:xfrm>
            <a:off x="457200" y="4160520"/>
            <a:ext cx="2651760" cy="475488"/>
          </a:xfrm>
          <a:prstGeom prst="rect">
            <a:avLst/>
          </a:prstGeom>
          <a:solidFill>
            <a:srgbClr val="162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457200" y="4160520"/>
            <a:ext cx="2651760" cy="475488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Preemptive?</a:t>
            </a:r>
            <a:endParaRPr sz="1400"/>
          </a:p>
        </p:txBody>
      </p:sp>
      <p:sp>
        <p:nvSpPr>
          <p:cNvPr id="60" name="Rectangle 59"/>
          <p:cNvSpPr/>
          <p:nvPr/>
        </p:nvSpPr>
        <p:spPr>
          <a:xfrm>
            <a:off x="3163824" y="4160520"/>
            <a:ext cx="2011680" cy="475488"/>
          </a:xfrm>
          <a:prstGeom prst="rect">
            <a:avLst/>
          </a:prstGeom>
          <a:solidFill>
            <a:srgbClr val="162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3163824" y="4160520"/>
            <a:ext cx="2011680" cy="475488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1400" b="0" i="0">
                <a:solidFill>
                  <a:srgbClr val="CCD6E0"/>
                </a:solidFill>
              </a:rPr>
              <a:t>No</a:t>
            </a:r>
            <a:endParaRPr sz="1400"/>
          </a:p>
        </p:txBody>
      </p:sp>
      <p:sp>
        <p:nvSpPr>
          <p:cNvPr id="62" name="Rectangle 61"/>
          <p:cNvSpPr/>
          <p:nvPr/>
        </p:nvSpPr>
        <p:spPr>
          <a:xfrm>
            <a:off x="5230368" y="4160520"/>
            <a:ext cx="2011680" cy="475488"/>
          </a:xfrm>
          <a:prstGeom prst="rect">
            <a:avLst/>
          </a:prstGeom>
          <a:solidFill>
            <a:srgbClr val="162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5230368" y="4160520"/>
            <a:ext cx="2011680" cy="475488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1400" b="0" i="0">
                <a:solidFill>
                  <a:srgbClr val="CCD6E0"/>
                </a:solidFill>
              </a:rPr>
              <a:t>No</a:t>
            </a:r>
            <a:endParaRPr sz="1400"/>
          </a:p>
        </p:txBody>
      </p:sp>
      <p:sp>
        <p:nvSpPr>
          <p:cNvPr id="64" name="Rectangle 63"/>
          <p:cNvSpPr/>
          <p:nvPr/>
        </p:nvSpPr>
        <p:spPr>
          <a:xfrm>
            <a:off x="7296912" y="4160520"/>
            <a:ext cx="2011680" cy="475488"/>
          </a:xfrm>
          <a:prstGeom prst="rect">
            <a:avLst/>
          </a:prstGeom>
          <a:solidFill>
            <a:srgbClr val="162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7296912" y="4160520"/>
            <a:ext cx="2011680" cy="475488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1400" b="0" i="0">
                <a:solidFill>
                  <a:srgbClr val="CCD6E0"/>
                </a:solidFill>
              </a:rPr>
              <a:t>Yes</a:t>
            </a:r>
            <a:endParaRPr sz="1400"/>
          </a:p>
        </p:txBody>
      </p:sp>
      <p:sp>
        <p:nvSpPr>
          <p:cNvPr id="66" name="Rectangle 65"/>
          <p:cNvSpPr/>
          <p:nvPr/>
        </p:nvSpPr>
        <p:spPr>
          <a:xfrm>
            <a:off x="9363456" y="4160520"/>
            <a:ext cx="2368296" cy="475488"/>
          </a:xfrm>
          <a:prstGeom prst="rect">
            <a:avLst/>
          </a:prstGeom>
          <a:solidFill>
            <a:srgbClr val="162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9363456" y="4160520"/>
            <a:ext cx="2368296" cy="475488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1400" b="0" i="0">
                <a:solidFill>
                  <a:srgbClr val="00C9A7"/>
                </a:solidFill>
              </a:rPr>
              <a:t>✅ Agent-Controlled</a:t>
            </a:r>
            <a:endParaRPr sz="1400"/>
          </a:p>
        </p:txBody>
      </p:sp>
      <p:sp>
        <p:nvSpPr>
          <p:cNvPr id="68" name="Rectangle 67"/>
          <p:cNvSpPr/>
          <p:nvPr/>
        </p:nvSpPr>
        <p:spPr>
          <a:xfrm>
            <a:off x="457200" y="4910328"/>
            <a:ext cx="11274552" cy="1216152"/>
          </a:xfrm>
          <a:prstGeom prst="rect">
            <a:avLst/>
          </a:prstGeom>
          <a:solidFill>
            <a:srgbClr val="162B3F"/>
          </a:solidFill>
          <a:ln w="19050">
            <a:solidFill>
              <a:srgbClr val="00C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594360" y="5020056"/>
            <a:ext cx="11000232" cy="41148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600" b="1" i="0">
                <a:solidFill>
                  <a:srgbClr val="00C9A7"/>
                </a:solidFill>
              </a:rPr>
              <a:t>🏆  Hybrid ML + RL Improvement</a:t>
            </a:r>
            <a:endParaRPr sz="1600"/>
          </a:p>
        </p:txBody>
      </p:sp>
      <p:sp>
        <p:nvSpPr>
          <p:cNvPr id="70" name="TextBox 69"/>
          <p:cNvSpPr txBox="1"/>
          <p:nvPr/>
        </p:nvSpPr>
        <p:spPr>
          <a:xfrm>
            <a:off x="594360" y="5458968"/>
            <a:ext cx="11000232" cy="530352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Without ML Burst Prediction:   Avg Reward = 20.34
With ML Burst Prediction:        Avg Reward = 22.39   (+10% improvement)</a:t>
            </a:r>
            <a:endParaRPr sz="150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6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710"/>
                            </p:stCondLst>
                            <p:childTnLst>
                              <p:par>
                                <p:cTn id="1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22" presetClass="entr" presetSubtype="8" fill="hold" grpId="0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8" fill="hold" grpId="0" nodeType="withEffect">
                                  <p:stCondLst>
                                    <p:cond delay="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ntr" presetSubtype="8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22" presetClass="entr" presetSubtype="8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2" presetClass="entr" presetSubtype="8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22" presetClass="entr" presetSubtype="8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2" presetClass="entr" presetSubtype="8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22" presetClass="entr" presetSubtype="8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2" presetClass="entr" presetSubtype="8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49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22" presetClass="entr" presetSubtype="8" fill="hold" grpId="0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8" fill="hold" grpId="0" nodeType="withEffect">
                                  <p:stCondLst>
                                    <p:cond delay="6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22" presetClass="entr" presetSubtype="8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22" presetClass="entr" presetSubtype="8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22" presetClass="entr" presetSubtype="8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22" presetClass="entr" presetSubtype="8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22" presetClass="entr" presetSubtype="8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22" presetClass="entr" presetSubtype="8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9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22" presetClass="entr" presetSubtype="8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3" fill="hold">
                            <p:stCondLst>
                              <p:cond delay="2270"/>
                            </p:stCondLst>
                            <p:childTnLst>
                              <p:par>
                                <p:cTn id="7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6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22" presetClass="entr" presetSubtype="8" fill="hold" grpId="0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9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22" presetClass="entr" presetSubtype="8" fill="hold" grpId="0" nodeType="withEffect">
                                  <p:stCondLst>
                                    <p:cond delay="6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22" presetClass="entr" presetSubtype="8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5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22" presetClass="entr" presetSubtype="8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8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22" presetClass="entr" presetSubtype="8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1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22" presetClass="entr" presetSubtype="8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4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22" presetClass="entr" presetSubtype="8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22" presetClass="entr" presetSubtype="8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0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22" presetClass="entr" presetSubtype="8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3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4" fill="hold">
                            <p:stCondLst>
                              <p:cond delay="3050"/>
                            </p:stCondLst>
                            <p:childTnLst>
                              <p:par>
                                <p:cTn id="10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7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22" presetClass="entr" presetSubtype="8" fill="hold" grpId="0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0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" presetID="22" presetClass="entr" presetSubtype="8" fill="hold" grpId="0" nodeType="withEffect">
                                  <p:stCondLst>
                                    <p:cond delay="6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3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4" presetID="22" presetClass="entr" presetSubtype="8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6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7" presetID="22" presetClass="entr" presetSubtype="8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9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22" presetClass="entr" presetSubtype="8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2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22" presetClass="entr" presetSubtype="8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5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22" presetClass="entr" presetSubtype="8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8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22" presetClass="entr" presetSubtype="8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1" dur="4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22" presetClass="entr" presetSubtype="8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4" dur="4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5" fill="hold">
                            <p:stCondLst>
                              <p:cond delay="3830"/>
                            </p:stCondLst>
                            <p:childTnLst>
                              <p:par>
                                <p:cTn id="1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8" dur="4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9" presetID="22" presetClass="entr" presetSubtype="8" fill="hold" grpId="0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1" dur="4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22" presetClass="entr" presetSubtype="8" fill="hold" grpId="0" nodeType="withEffect">
                                  <p:stCondLst>
                                    <p:cond delay="6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4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5" presetID="22" presetClass="entr" presetSubtype="8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7" dur="4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22" presetClass="entr" presetSubtype="8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0" dur="4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" presetID="22" presetClass="entr" presetSubtype="8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3" dur="4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22" presetClass="entr" presetSubtype="8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6" dur="4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22" presetClass="entr" presetSubtype="8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9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22" presetClass="entr" presetSubtype="8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2" dur="4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22" presetClass="entr" presetSubtype="8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5" dur="4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6" fill="hold">
                            <p:stCondLst>
                              <p:cond delay="4610"/>
                            </p:stCondLst>
                            <p:childTnLst>
                              <p:par>
                                <p:cTn id="16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9" dur="4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0" presetID="22" presetClass="entr" presetSubtype="8" fill="hold" grpId="0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2" dur="4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3" presetID="22" presetClass="entr" presetSubtype="8" fill="hold" grpId="0" nodeType="withEffect">
                                  <p:stCondLst>
                                    <p:cond delay="6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5" dur="4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6" presetID="22" presetClass="entr" presetSubtype="8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1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8" dur="4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9" presetID="22" presetClass="entr" presetSubtype="8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1" dur="4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2" presetID="22" presetClass="entr" presetSubtype="8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4" dur="4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5" presetID="22" presetClass="entr" presetSubtype="8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7" dur="4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8" presetID="22" presetClass="entr" presetSubtype="8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0" dur="4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1" presetID="22" presetClass="entr" presetSubtype="8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3" dur="4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4" presetID="22" presetClass="entr" presetSubtype="8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6" dur="4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7" fill="hold">
                            <p:stCondLst>
                              <p:cond delay="5390"/>
                            </p:stCondLst>
                            <p:childTnLst>
                              <p:par>
                                <p:cTn id="19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0" dur="45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1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3" dur="45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4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6" dur="45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8" grpId="0" animBg="1"/>
      <p:bldP spid="9" grpId="0"/>
      <p:bldP spid="10" grpId="0" animBg="1"/>
      <p:bldP spid="11" grpId="0"/>
      <p:bldP spid="12" grpId="0" animBg="1"/>
      <p:bldP spid="13" grpId="0"/>
      <p:bldP spid="14" grpId="0" animBg="1"/>
      <p:bldP spid="15" grpId="0"/>
      <p:bldP spid="16" grpId="0" animBg="1"/>
      <p:bldP spid="17" grpId="0"/>
      <p:bldP spid="18" grpId="0" animBg="1"/>
      <p:bldP spid="19" grpId="0"/>
      <p:bldP spid="20" grpId="0" animBg="1"/>
      <p:bldP spid="21" grpId="0"/>
      <p:bldP spid="22" grpId="0" animBg="1"/>
      <p:bldP spid="23" grpId="0"/>
      <p:bldP spid="24" grpId="0" animBg="1"/>
      <p:bldP spid="25" grpId="0"/>
      <p:bldP spid="26" grpId="0" animBg="1"/>
      <p:bldP spid="27" grpId="0"/>
      <p:bldP spid="28" grpId="0" animBg="1"/>
      <p:bldP spid="29" grpId="0"/>
      <p:bldP spid="30" grpId="0" animBg="1"/>
      <p:bldP spid="31" grpId="0"/>
      <p:bldP spid="32" grpId="0" animBg="1"/>
      <p:bldP spid="33" grpId="0"/>
      <p:bldP spid="34" grpId="0" animBg="1"/>
      <p:bldP spid="35" grpId="0"/>
      <p:bldP spid="36" grpId="0" animBg="1"/>
      <p:bldP spid="37" grpId="0"/>
      <p:bldP spid="38" grpId="0" animBg="1"/>
      <p:bldP spid="39" grpId="0"/>
      <p:bldP spid="40" grpId="0" animBg="1"/>
      <p:bldP spid="41" grpId="0"/>
      <p:bldP spid="42" grpId="0" animBg="1"/>
      <p:bldP spid="43" grpId="0"/>
      <p:bldP spid="44" grpId="0" animBg="1"/>
      <p:bldP spid="45" grpId="0"/>
      <p:bldP spid="46" grpId="0" animBg="1"/>
      <p:bldP spid="47" grpId="0"/>
      <p:bldP spid="48" grpId="0" animBg="1"/>
      <p:bldP spid="49" grpId="0"/>
      <p:bldP spid="50" grpId="0" animBg="1"/>
      <p:bldP spid="51" grpId="0"/>
      <p:bldP spid="52" grpId="0" animBg="1"/>
      <p:bldP spid="53" grpId="0"/>
      <p:bldP spid="54" grpId="0" animBg="1"/>
      <p:bldP spid="55" grpId="0"/>
      <p:bldP spid="56" grpId="0" animBg="1"/>
      <p:bldP spid="57" grpId="0"/>
      <p:bldP spid="58" grpId="0" animBg="1"/>
      <p:bldP spid="59" grpId="0"/>
      <p:bldP spid="60" grpId="0" animBg="1"/>
      <p:bldP spid="61" grpId="0"/>
      <p:bldP spid="62" grpId="0" animBg="1"/>
      <p:bldP spid="63" grpId="0"/>
      <p:bldP spid="64" grpId="0" animBg="1"/>
      <p:bldP spid="65" grpId="0"/>
      <p:bldP spid="66" grpId="0" animBg="1"/>
      <p:bldP spid="67" grpId="0"/>
      <p:bldP spid="68" grpId="0" animBg="1"/>
      <p:bldP spid="69" grpId="0"/>
      <p:bldP spid="70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008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4008" y="0"/>
            <a:ext cx="12124944" cy="1188720"/>
          </a:xfrm>
          <a:prstGeom prst="rect">
            <a:avLst/>
          </a:prstGeom>
          <a:solidFill>
            <a:srgbClr val="162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28016"/>
            <a:ext cx="11457432" cy="566928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2800" b="1" i="0">
                <a:solidFill>
                  <a:srgbClr val="00C9A7"/>
                </a:solidFill>
              </a:rPr>
              <a:t>Challenges &amp; Future Enhancements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94944"/>
            <a:ext cx="11457432" cy="347472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400" b="0" i="0">
                <a:solidFill>
                  <a:srgbClr val="CCD6E0"/>
                </a:solidFill>
              </a:rPr>
              <a:t>Lessons Learned &amp; Road Ahead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115568"/>
            <a:ext cx="4114800" cy="45720"/>
          </a:xfrm>
          <a:prstGeom prst="rect">
            <a:avLst/>
          </a:prstGeom>
          <a:solidFill>
            <a:srgbClr val="008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543032" y="6400800"/>
            <a:ext cx="1280160" cy="27432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100" b="0" i="0">
                <a:solidFill>
                  <a:srgbClr val="CCD6E0"/>
                </a:solidFill>
              </a:rPr>
              <a:t>10 / 10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508760"/>
            <a:ext cx="5500116" cy="3291840"/>
          </a:xfrm>
          <a:prstGeom prst="rect">
            <a:avLst/>
          </a:prstGeom>
          <a:solidFill>
            <a:srgbClr val="162B3F"/>
          </a:solidFill>
          <a:ln w="1905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1618488"/>
            <a:ext cx="5225796" cy="420624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600" b="1" i="0">
                <a:solidFill>
                  <a:srgbClr val="FF6B35"/>
                </a:solidFill>
              </a:rPr>
              <a:t>⚠️  Challenges Faced</a:t>
            </a:r>
            <a:endParaRPr sz="1600"/>
          </a:p>
        </p:txBody>
      </p:sp>
      <p:sp>
        <p:nvSpPr>
          <p:cNvPr id="10" name="TextBox 9"/>
          <p:cNvSpPr txBox="1"/>
          <p:nvPr/>
        </p:nvSpPr>
        <p:spPr>
          <a:xfrm>
            <a:off x="594360" y="2167128"/>
            <a:ext cx="5225796" cy="2523744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103124" indent="-103124"/>
            <a:r>
              <a:rPr sz="1400" b="0">
                <a:solidFill>
                  <a:srgbClr val="FFFFFF"/>
                </a:solidFill>
              </a:rPr>
              <a:t>• RL performs best when all processes</a:t>
            </a:r>
            <a:endParaRPr sz="1400"/>
          </a:p>
          <a:p>
            <a:r>
              <a:rPr sz="1400" b="0">
                <a:solidFill>
                  <a:srgbClr val="FFFFFF"/>
                </a:solidFill>
              </a:rPr>
              <a:t>  arrive at T=0; varied arrival times</a:t>
            </a:r>
            <a:endParaRPr sz="1400"/>
          </a:p>
          <a:p>
            <a:r>
              <a:rPr sz="1400" b="0">
                <a:solidFill>
                  <a:srgbClr val="FFFFFF"/>
                </a:solidFill>
              </a:rPr>
              <a:t>  reduce scheduling efficiency</a:t>
            </a:r>
            <a:endParaRPr sz="1400"/>
          </a:p>
          <a:p>
            <a:endParaRPr sz="1400"/>
          </a:p>
          <a:p>
            <a:pPr marL="103124" indent="-103124"/>
            <a:r>
              <a:rPr sz="1400" b="0">
                <a:solidFill>
                  <a:srgbClr val="FFFFFF"/>
                </a:solidFill>
              </a:rPr>
              <a:t>• Context switch penalty tuning is</a:t>
            </a:r>
            <a:endParaRPr sz="1400"/>
          </a:p>
          <a:p>
            <a:r>
              <a:rPr sz="1400" b="0">
                <a:solidFill>
                  <a:srgbClr val="FFFFFF"/>
                </a:solidFill>
              </a:rPr>
              <a:t>  critical — wrong values cause the</a:t>
            </a:r>
            <a:endParaRPr sz="1400"/>
          </a:p>
          <a:p>
            <a:r>
              <a:rPr sz="1400" b="0">
                <a:solidFill>
                  <a:srgbClr val="FFFFFF"/>
                </a:solidFill>
              </a:rPr>
              <a:t>  agent to never switch processes</a:t>
            </a:r>
            <a:endParaRPr sz="1400"/>
          </a:p>
          <a:p>
            <a:endParaRPr sz="1400"/>
          </a:p>
          <a:p>
            <a:pPr marL="103124" indent="-103124"/>
            <a:r>
              <a:rPr sz="1400" b="0">
                <a:solidFill>
                  <a:srgbClr val="FFFFFF"/>
                </a:solidFill>
              </a:rPr>
              <a:t>• Hardcoded paths in original codebase</a:t>
            </a:r>
            <a:endParaRPr sz="1400"/>
          </a:p>
          <a:p>
            <a:r>
              <a:rPr sz="1400" b="0">
                <a:solidFill>
                  <a:srgbClr val="FFFFFF"/>
                </a:solidFill>
              </a:rPr>
              <a:t>  prevented cross-machine deployment</a:t>
            </a:r>
            <a:endParaRPr sz="1400"/>
          </a:p>
          <a:p>
            <a:r>
              <a:rPr sz="1400" b="0">
                <a:solidFill>
                  <a:srgbClr val="FFFFFF"/>
                </a:solidFill>
              </a:rPr>
              <a:t>  (fixed with os.path.dirname)</a:t>
            </a:r>
            <a:endParaRPr sz="1400"/>
          </a:p>
        </p:txBody>
      </p:sp>
      <p:sp>
        <p:nvSpPr>
          <p:cNvPr id="11" name="Rectangle 10"/>
          <p:cNvSpPr/>
          <p:nvPr/>
        </p:nvSpPr>
        <p:spPr>
          <a:xfrm>
            <a:off x="6231636" y="1508760"/>
            <a:ext cx="5500116" cy="3291840"/>
          </a:xfrm>
          <a:prstGeom prst="rect">
            <a:avLst/>
          </a:prstGeom>
          <a:solidFill>
            <a:srgbClr val="162B3F"/>
          </a:solidFill>
          <a:ln w="19050">
            <a:solidFill>
              <a:srgbClr val="00C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368796" y="1618488"/>
            <a:ext cx="5225796" cy="420624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600" b="1" i="0">
                <a:solidFill>
                  <a:srgbClr val="00C9A7"/>
                </a:solidFill>
              </a:rPr>
              <a:t>🚀  Future Enhancements</a:t>
            </a:r>
            <a:endParaRPr sz="1600"/>
          </a:p>
        </p:txBody>
      </p:sp>
      <p:sp>
        <p:nvSpPr>
          <p:cNvPr id="13" name="TextBox 12"/>
          <p:cNvSpPr txBox="1"/>
          <p:nvPr/>
        </p:nvSpPr>
        <p:spPr>
          <a:xfrm>
            <a:off x="6368796" y="2167128"/>
            <a:ext cx="5225796" cy="2523744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103124" indent="-103124"/>
            <a:r>
              <a:rPr sz="1400" b="0">
                <a:solidFill>
                  <a:srgbClr val="FFFFFF"/>
                </a:solidFill>
              </a:rPr>
              <a:t>• Extend to Multi-Core CPU simulation</a:t>
            </a:r>
            <a:endParaRPr sz="1400"/>
          </a:p>
          <a:p>
            <a:r>
              <a:rPr sz="1400" b="0">
                <a:solidFill>
                  <a:srgbClr val="FFFFFF"/>
                </a:solidFill>
              </a:rPr>
              <a:t>  (parallel process queues per core)</a:t>
            </a:r>
            <a:endParaRPr sz="1400"/>
          </a:p>
          <a:p>
            <a:endParaRPr sz="1400"/>
          </a:p>
          <a:p>
            <a:pPr marL="103124" indent="-103124"/>
            <a:r>
              <a:rPr sz="1400" b="0">
                <a:solidFill>
                  <a:srgbClr val="FFFFFF"/>
                </a:solidFill>
              </a:rPr>
              <a:t>• Priority-aware RL policies &amp;</a:t>
            </a:r>
            <a:endParaRPr sz="1400"/>
          </a:p>
          <a:p>
            <a:r>
              <a:rPr sz="1400" b="0">
                <a:solidFill>
                  <a:srgbClr val="FFFFFF"/>
                </a:solidFill>
              </a:rPr>
              <a:t>  starvation prevention mechanisms</a:t>
            </a:r>
            <a:endParaRPr sz="1400"/>
          </a:p>
          <a:p>
            <a:endParaRPr sz="1400"/>
          </a:p>
          <a:p>
            <a:pPr marL="103124" indent="-103124"/>
            <a:r>
              <a:rPr sz="1400" b="0">
                <a:solidFill>
                  <a:srgbClr val="FFFFFF"/>
                </a:solidFill>
              </a:rPr>
              <a:t>• DQN vs PPO benchmark comparison</a:t>
            </a:r>
            <a:endParaRPr sz="1400"/>
          </a:p>
          <a:p>
            <a:r>
              <a:rPr sz="1400" b="0">
                <a:solidFill>
                  <a:srgbClr val="FFFFFF"/>
                </a:solidFill>
              </a:rPr>
              <a:t>  with training curve visualization</a:t>
            </a:r>
            <a:endParaRPr sz="1400"/>
          </a:p>
          <a:p>
            <a:endParaRPr sz="1400"/>
          </a:p>
          <a:p>
            <a:pPr marL="103124" indent="-103124"/>
            <a:r>
              <a:rPr sz="1400" b="0">
                <a:solidFill>
                  <a:srgbClr val="FFFFFF"/>
                </a:solidFill>
              </a:rPr>
              <a:t>• Live process telemetry from real OS</a:t>
            </a:r>
            <a:endParaRPr sz="1400"/>
          </a:p>
          <a:p>
            <a:r>
              <a:rPr sz="1400" b="0">
                <a:solidFill>
                  <a:srgbClr val="FFFFFF"/>
                </a:solidFill>
              </a:rPr>
              <a:t>  (psutil integration for Windows/Linux)</a:t>
            </a:r>
            <a:endParaRPr sz="1400"/>
          </a:p>
        </p:txBody>
      </p:sp>
      <p:sp>
        <p:nvSpPr>
          <p:cNvPr id="14" name="Rectangle 13"/>
          <p:cNvSpPr/>
          <p:nvPr/>
        </p:nvSpPr>
        <p:spPr>
          <a:xfrm>
            <a:off x="457200" y="5074920"/>
            <a:ext cx="11274552" cy="1051560"/>
          </a:xfrm>
          <a:prstGeom prst="rect">
            <a:avLst/>
          </a:prstGeom>
          <a:solidFill>
            <a:srgbClr val="162B3F"/>
          </a:solidFill>
          <a:ln w="19050">
            <a:solidFill>
              <a:srgbClr val="008B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94360" y="5166360"/>
            <a:ext cx="11000232" cy="384048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500" b="1" i="0">
                <a:solidFill>
                  <a:srgbClr val="008BD8"/>
                </a:solidFill>
              </a:rPr>
              <a:t>✅  Conclusion</a:t>
            </a:r>
            <a:endParaRPr sz="1500"/>
          </a:p>
        </p:txBody>
      </p:sp>
      <p:sp>
        <p:nvSpPr>
          <p:cNvPr id="16" name="TextBox 15"/>
          <p:cNvSpPr txBox="1"/>
          <p:nvPr/>
        </p:nvSpPr>
        <p:spPr>
          <a:xfrm>
            <a:off x="594360" y="5550408"/>
            <a:ext cx="11000232" cy="5029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Successfully demonstrated that ML + RL significantly enhances CPU scheduling over static algorithms. The hybrid system predicts burst times accurately (R²=1.0) and learns optimal scheduling policies through trial-and-error.</a:t>
            </a:r>
            <a:endParaRPr sz="140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6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65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8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35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350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350"/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350"/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350"/>
                                        <p:tgtEl>
                                          <p:spTgt spid="1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350"/>
                                        <p:tgtEl>
                                          <p:spTgt spid="1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350"/>
                                        <p:tgtEl>
                                          <p:spTgt spid="1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350"/>
                                        <p:tgtEl>
                                          <p:spTgt spid="10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350"/>
                                        <p:tgtEl>
                                          <p:spTgt spid="10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22" presetClass="entr" presetSubtype="8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9" dur="35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22" presetClass="entr" presetSubtype="8" fill="hold" grpId="0" nodeType="click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4" dur="350"/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22" presetClass="entr" presetSubtype="8" fill="hold" grpId="0" nodeType="click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9" dur="350"/>
                                        <p:tgtEl>
                                          <p:spTgt spid="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22" presetClass="entr" presetSubtype="8" fill="hold" grpId="0" nodeType="click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4" dur="350"/>
                                        <p:tgtEl>
                                          <p:spTgt spid="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22" presetClass="entr" presetSubtype="8" fill="hold" grpId="0" nodeType="click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9" dur="350"/>
                                        <p:tgtEl>
                                          <p:spTgt spid="1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22" presetClass="entr" presetSubtype="8" fill="hold" grpId="0" nodeType="click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4" dur="350"/>
                                        <p:tgtEl>
                                          <p:spTgt spid="1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22" presetClass="entr" presetSubtype="8" fill="hold" grpId="0" nodeType="click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9" dur="350"/>
                                        <p:tgtEl>
                                          <p:spTgt spid="1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0" fill="hold">
                      <p:stCondLst>
                        <p:cond delay="indefinite"/>
                      </p:stCondLst>
                      <p:childTnLst>
                        <p:par>
                          <p:cTn id="101" fill="hold">
                            <p:stCondLst>
                              <p:cond delay="0"/>
                            </p:stCondLst>
                            <p:childTnLst>
                              <p:par>
                                <p:cTn id="102" presetID="22" presetClass="entr" presetSubtype="8" fill="hold" grpId="0" nodeType="click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4" dur="350"/>
                                        <p:tgtEl>
                                          <p:spTgt spid="1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5" fill="hold">
                            <p:stCondLst>
                              <p:cond delay="900"/>
                            </p:stCondLst>
                            <p:childTnLst>
                              <p:par>
                                <p:cTn id="10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8" grpId="0" animBg="1"/>
      <p:bldP spid="9" grpId="0"/>
      <p:bldP spid="10" grpId="0" build="p"/>
      <p:bldP spid="11" grpId="0" animBg="1"/>
      <p:bldP spid="12" grpId="0"/>
      <p:bldP spid="13" grpId="0" build="p"/>
      <p:bldP spid="14" grpId="0" animBg="1"/>
      <p:bldP spid="15" grpId="0"/>
      <p:bldP spid="16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142</TotalTime>
  <Words>1271</Words>
  <Application>Microsoft Office PowerPoint</Application>
  <PresentationFormat>Custom</PresentationFormat>
  <Paragraphs>233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Arial</vt:lpstr>
      <vt:lpstr>Calibri</vt:lpstr>
      <vt:lpstr>Consolas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Ajay Kumar</cp:lastModifiedBy>
  <cp:revision>6</cp:revision>
  <dcterms:created xsi:type="dcterms:W3CDTF">2013-01-27T09:14:16Z</dcterms:created>
  <dcterms:modified xsi:type="dcterms:W3CDTF">2026-10-08T08:37:14Z</dcterms:modified>
  <cp:category/>
</cp:coreProperties>
</file>