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" y="1005840"/>
            <a:ext cx="12124944" cy="365760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1005840"/>
            <a:ext cx="54864" cy="3657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914400"/>
            <a:ext cx="1097280" cy="10972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AI-Powered Process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A7"/>
                </a:solidFill>
              </a:rPr>
              <a:t>Enhancing CPU Scheduling using Machine Learning &amp; Reinforcement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108960"/>
            <a:ext cx="576072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Project Based Learning  |  Operating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Review 1  |  Department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8BD8"/>
                </a:solidFill>
              </a:rPr>
              <a:t>GitHub: ayusharyan143/ai-powered-process-scheduling-pbl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Why does CPU Scheduling need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303520" cy="21945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⚙️  Traditional Scheduling 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5029200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• FCFS, SJF &amp; Round Robin rely on</a:t>
            </a:r>
          </a:p>
          <a:p>
            <a:r>
              <a:rPr sz="1400" b="0">
                <a:solidFill>
                  <a:srgbClr val="FFFFFF"/>
                </a:solidFill>
              </a:rPr>
              <a:t>  known Burst Times (BT) up front</a:t>
            </a:r>
          </a:p>
          <a:p>
            <a:r>
              <a:rPr sz="1400" b="0">
                <a:solidFill>
                  <a:srgbClr val="FFFFFF"/>
                </a:solidFill>
              </a:rPr>
              <a:t>• In reality, OS cannot predict BT</a:t>
            </a:r>
          </a:p>
          <a:p>
            <a:r>
              <a:rPr sz="1400" b="0">
                <a:solidFill>
                  <a:srgbClr val="FFFFFF"/>
                </a:solidFill>
              </a:rPr>
              <a:t>  before process execution begins</a:t>
            </a:r>
          </a:p>
          <a:p>
            <a:r>
              <a:rPr sz="1400" b="0">
                <a:solidFill>
                  <a:srgbClr val="FFFFFF"/>
                </a:solidFill>
              </a:rPr>
              <a:t>• Static rules cannot adapt to dynamic</a:t>
            </a:r>
          </a:p>
          <a:p>
            <a:r>
              <a:rPr sz="1400" b="0">
                <a:solidFill>
                  <a:srgbClr val="FFFFFF"/>
                </a:solidFill>
              </a:rPr>
              <a:t>  or real-time workloads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5852160" cy="219456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🧠  Why Bring AI into Scheduling?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47088"/>
            <a:ext cx="5577840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920240"/>
            <a:ext cx="55778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• Processes emit real-time telemetry:</a:t>
            </a:r>
          </a:p>
          <a:p>
            <a:r>
              <a:rPr sz="1400" b="0">
                <a:solidFill>
                  <a:srgbClr val="FFFFFF"/>
                </a:solidFill>
              </a:rPr>
              <a:t>  CPU %, I/O Bytes, Context Switches</a:t>
            </a:r>
          </a:p>
          <a:p>
            <a:r>
              <a:rPr sz="1400" b="0">
                <a:solidFill>
                  <a:srgbClr val="FFFFFF"/>
                </a:solidFill>
              </a:rPr>
              <a:t>• ML can PREDICT burst time from</a:t>
            </a:r>
          </a:p>
          <a:p>
            <a:r>
              <a:rPr sz="1400" b="0">
                <a:solidFill>
                  <a:srgbClr val="FFFFFF"/>
                </a:solidFill>
              </a:rPr>
              <a:t>  these signals before scheduling</a:t>
            </a:r>
          </a:p>
          <a:p>
            <a:r>
              <a:rPr sz="1400" b="0">
                <a:solidFill>
                  <a:srgbClr val="FFFFFF"/>
                </a:solidFill>
              </a:rPr>
              <a:t>• RL can LEARN optimal switching</a:t>
            </a:r>
          </a:p>
          <a:p>
            <a:r>
              <a:rPr sz="1400" b="0">
                <a:solidFill>
                  <a:srgbClr val="FFFFFF"/>
                </a:solidFill>
              </a:rPr>
              <a:t>  decisions dynamically at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</a:rPr>
              <a:t>Key Goal: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1148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Build a system that predicts CPU burst time using ML and optimizes process scheduling using Reinforcement Learning — outperforming traditional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Four core goals of this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4389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D8"/>
                </a:solidFill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103120"/>
            <a:ext cx="25603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Burst Time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Use Random Forest Regressor to predict CPU burst time
from real-time process telemetry (I/O, CPU %, switches)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743200" cy="4389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D8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03120"/>
            <a:ext cx="25603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Intelligent CPU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432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Train a PPO Reinforcement Learning agent to make
dynamic context-switch decisions at 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2743200" cy="4389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D8"/>
                </a:solidFill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03120"/>
            <a:ext cx="25603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Performance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432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Benchmark AI scheduler against FCFS, SJF, Round Robin
using WT, TAT, Throughput &amp; CPU Utilization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417320"/>
            <a:ext cx="2743200" cy="4389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D8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19" y="2103120"/>
            <a:ext cx="25603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Interactive Web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7432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Build a Flask-based UI for real-time simulation of
both traditional and AI-powered schedulers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End-to-End AI Scheduling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20040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904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🖥️  Web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74519"/>
            <a:ext cx="2980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HTML + Bootstrap + JavaScript
User inputs process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417320"/>
            <a:ext cx="320040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4904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⚗️  Flask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874519"/>
            <a:ext cx="2980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Python REST API (/schedule)
Receives JSON process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417320"/>
            <a:ext cx="438912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490472"/>
            <a:ext cx="4169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🤖  ML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1874519"/>
            <a:ext cx="41696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Random Forest Regressor
Predicts Burst Time per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46120"/>
            <a:ext cx="320040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3192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🧠  RL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703320"/>
            <a:ext cx="2980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PPO Agent (stable-baselines3)
Decides: Continue or Switch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3246120"/>
            <a:ext cx="320040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3319272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📊  Output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3703320"/>
            <a:ext cx="2980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WT, TAT, Throughput,
CPU Utilization returned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246120"/>
            <a:ext cx="4389120" cy="109728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3319272"/>
            <a:ext cx="4169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📁  Stored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3703320"/>
            <a:ext cx="41696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burst_time_predictor.joblib
rl_scheduler_model.zip (PPO)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D8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📌  Case 1 (Traditional): FCFS / SJF / Round Robin — computed entirely in JavaScript (Frontend)
📌  Case 2 (AI-Powered): ML Burst Prediction  →  PPO RL Scheduling — runs via Python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Dataset &amp;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Random Forest Regressor for Burst Time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029200" cy="2103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📁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6,600+ real OS process execution logs</a:t>
            </a:r>
          </a:p>
          <a:p>
            <a:r>
              <a:rPr sz="1300" b="0">
                <a:solidFill>
                  <a:srgbClr val="FFFFFF"/>
                </a:solidFill>
              </a:rPr>
              <a:t>• Collected from Windows process monitor</a:t>
            </a:r>
          </a:p>
          <a:p>
            <a:r>
              <a:rPr sz="1300" b="0">
                <a:solidFill>
                  <a:srgbClr val="FFFFFF"/>
                </a:solidFill>
              </a:rPr>
              <a:t>• Target variable: cpu_times_user + cpu_times_system</a:t>
            </a:r>
          </a:p>
          <a:p>
            <a:r>
              <a:rPr sz="1300" b="0">
                <a:solidFill>
                  <a:srgbClr val="FFFFFF"/>
                </a:solidFill>
              </a:rPr>
              <a:t>• Filename: process_data.csv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5943600" cy="210312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08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🔬  Feature Set (6 Inputs)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2024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io_write_bytes       → Bytes written to disk</a:t>
            </a:r>
          </a:p>
          <a:p>
            <a:r>
              <a:rPr sz="1200" b="0">
                <a:solidFill>
                  <a:srgbClr val="FFFFFF"/>
                </a:solidFill>
              </a:rPr>
              <a:t>num_ctx_switches_voluntary  → Process waits</a:t>
            </a:r>
          </a:p>
          <a:p>
            <a:r>
              <a:rPr sz="1200" b="0">
                <a:solidFill>
                  <a:srgbClr val="FFFFFF"/>
                </a:solidFill>
              </a:rPr>
              <a:t>cpu_percent          → CPU usage at snapshot</a:t>
            </a:r>
          </a:p>
          <a:p>
            <a:r>
              <a:rPr sz="1200" b="0">
                <a:solidFill>
                  <a:srgbClr val="FFFFFF"/>
                </a:solidFill>
              </a:rPr>
              <a:t>io_read_bytes        → Bytes read from disk</a:t>
            </a:r>
          </a:p>
          <a:p>
            <a:r>
              <a:rPr sz="1200" b="0">
                <a:solidFill>
                  <a:srgbClr val="FFFFFF"/>
                </a:solidFill>
              </a:rPr>
              <a:t>io_read_count        → Number of read calls</a:t>
            </a:r>
          </a:p>
          <a:p>
            <a:r>
              <a:rPr sz="1200" b="0">
                <a:solidFill>
                  <a:srgbClr val="FFFFFF"/>
                </a:solidFill>
              </a:rPr>
              <a:t>io_write_count       → Number of write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2743200" cy="14173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📉 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0.0304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Mean Absolute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703320"/>
            <a:ext cx="2743200" cy="14173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📊  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0.0815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Mean Squared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2743200" cy="14173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✅  R²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Coefficient of Determination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703320"/>
            <a:ext cx="2743200" cy="1417320"/>
          </a:xfrm>
          <a:prstGeom prst="rect">
            <a:avLst/>
          </a:prstGeom>
          <a:solidFill>
            <a:srgbClr val="162B3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🏆 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Best Performer (100 estimators)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Reinforcement Learning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PPO Agent for Dynamic CPU Process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486400" cy="42062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🧠  PPO Environment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CD6E0"/>
                </a:solidFill>
              </a:rPr>
              <a:t>Algorithm:  PPO  (Proximal Policy Optimization)</a:t>
            </a:r>
          </a:p>
          <a:p>
            <a:r>
              <a:rPr sz="1250" b="0">
                <a:solidFill>
                  <a:srgbClr val="CCD6E0"/>
                </a:solidFill>
              </a:rPr>
              <a:t>Library:  stable-baselines3  +  PyTorch</a:t>
            </a:r>
          </a:p>
          <a:p>
            <a:r>
              <a:rPr sz="1250" b="0">
                <a:solidFill>
                  <a:srgbClr val="CCD6E0"/>
                </a:solidFill>
              </a:rPr>
              <a:t> </a:t>
            </a:r>
          </a:p>
          <a:p>
            <a:r>
              <a:rPr sz="1250" b="1">
                <a:solidFill>
                  <a:srgbClr val="CCD6E0"/>
                </a:solidFill>
              </a:rPr>
              <a:t>STATE SPACE (4 dimensions):</a:t>
            </a:r>
          </a:p>
          <a:p>
            <a:r>
              <a:rPr sz="1250" b="0">
                <a:solidFill>
                  <a:srgbClr val="CCD6E0"/>
                </a:solidFill>
              </a:rPr>
              <a:t>  • Predicted Burst Time of current process</a:t>
            </a:r>
          </a:p>
          <a:p>
            <a:r>
              <a:rPr sz="1250" b="0">
                <a:solidFill>
                  <a:srgbClr val="CCD6E0"/>
                </a:solidFill>
              </a:rPr>
              <a:t>  • Waiting Time of current process</a:t>
            </a:r>
          </a:p>
          <a:p>
            <a:r>
              <a:rPr sz="1250" b="0">
                <a:solidFill>
                  <a:srgbClr val="CCD6E0"/>
                </a:solidFill>
              </a:rPr>
              <a:t>  • Queue Length (# processes waiting)</a:t>
            </a:r>
          </a:p>
          <a:p>
            <a:r>
              <a:rPr sz="1250" b="0">
                <a:solidFill>
                  <a:srgbClr val="CCD6E0"/>
                </a:solidFill>
              </a:rPr>
              <a:t>  • Execution Progress (0 → 100%)</a:t>
            </a:r>
          </a:p>
          <a:p>
            <a:r>
              <a:rPr sz="1250" b="0">
                <a:solidFill>
                  <a:srgbClr val="CCD6E0"/>
                </a:solidFill>
              </a:rPr>
              <a:t> </a:t>
            </a:r>
          </a:p>
          <a:p>
            <a:r>
              <a:rPr sz="1250" b="1">
                <a:solidFill>
                  <a:srgbClr val="CCD6E0"/>
                </a:solidFill>
              </a:rPr>
              <a:t>ACTION SPACE (Binary Decision):</a:t>
            </a:r>
          </a:p>
          <a:p>
            <a:r>
              <a:rPr sz="1250" b="0">
                <a:solidFill>
                  <a:srgbClr val="CCD6E0"/>
                </a:solidFill>
              </a:rPr>
              <a:t>  0 → Keep running current process</a:t>
            </a:r>
          </a:p>
          <a:p>
            <a:r>
              <a:rPr sz="1250" b="0">
                <a:solidFill>
                  <a:srgbClr val="CCD6E0"/>
                </a:solidFill>
              </a:rPr>
              <a:t>  1 → Context-switch to next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577840" cy="420624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🎯  Reward System &amp; Hyperparameters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659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CD6E0"/>
                </a:solidFill>
              </a:rPr>
              <a:t>REWARD DESIGN:</a:t>
            </a:r>
          </a:p>
          <a:p>
            <a:r>
              <a:rPr sz="1250" b="0">
                <a:solidFill>
                  <a:srgbClr val="CCD6E0"/>
                </a:solidFill>
              </a:rPr>
              <a:t>  +5.0   → Process completes successfully</a:t>
            </a:r>
          </a:p>
          <a:p>
            <a:r>
              <a:rPr sz="1250" b="0">
                <a:solidFill>
                  <a:srgbClr val="CCD6E0"/>
                </a:solidFill>
              </a:rPr>
              <a:t>  -0.5   → Context switch penalty</a:t>
            </a:r>
          </a:p>
          <a:p>
            <a:r>
              <a:rPr sz="1250" b="0">
                <a:solidFill>
                  <a:srgbClr val="CCD6E0"/>
                </a:solidFill>
              </a:rPr>
              <a:t>  -0.1   → Waiting penalty (per waiting proc)</a:t>
            </a:r>
          </a:p>
          <a:p>
            <a:r>
              <a:rPr sz="1250" b="0">
                <a:solidFill>
                  <a:srgbClr val="CCD6E0"/>
                </a:solidFill>
              </a:rPr>
              <a:t>  -1.0   → Long wait penalty (&gt; threshold)</a:t>
            </a:r>
          </a:p>
          <a:p>
            <a:r>
              <a:rPr sz="1250" b="0">
                <a:solidFill>
                  <a:srgbClr val="CCD6E0"/>
                </a:solidFill>
              </a:rPr>
              <a:t>  +10.0  → Bonus: efficient total completion</a:t>
            </a:r>
          </a:p>
          <a:p>
            <a:r>
              <a:rPr sz="1250" b="0">
                <a:solidFill>
                  <a:srgbClr val="CCD6E0"/>
                </a:solidFill>
              </a:rPr>
              <a:t> </a:t>
            </a:r>
          </a:p>
          <a:p>
            <a:r>
              <a:rPr sz="1250" b="1">
                <a:solidFill>
                  <a:srgbClr val="CCD6E0"/>
                </a:solidFill>
              </a:rPr>
              <a:t>PPO HYPERPARAMETERS:</a:t>
            </a:r>
          </a:p>
          <a:p>
            <a:r>
              <a:rPr sz="1250" b="0">
                <a:solidFill>
                  <a:srgbClr val="CCD6E0"/>
                </a:solidFill>
              </a:rPr>
              <a:t>  Learning Rate :  0.0001</a:t>
            </a:r>
          </a:p>
          <a:p>
            <a:r>
              <a:rPr sz="1250" b="0">
                <a:solidFill>
                  <a:srgbClr val="CCD6E0"/>
                </a:solidFill>
              </a:rPr>
              <a:t>  Batch Size    :  32</a:t>
            </a:r>
          </a:p>
          <a:p>
            <a:r>
              <a:rPr sz="1250" b="0">
                <a:solidFill>
                  <a:srgbClr val="CCD6E0"/>
                </a:solidFill>
              </a:rPr>
              <a:t>  Steps/Update  :  1024</a:t>
            </a:r>
          </a:p>
          <a:p>
            <a:r>
              <a:rPr sz="1250" b="0">
                <a:solidFill>
                  <a:srgbClr val="CCD6E0"/>
                </a:solidFill>
              </a:rPr>
              <a:t>  Discount γ    :  0.99</a:t>
            </a:r>
          </a:p>
          <a:p>
            <a:r>
              <a:rPr sz="1250" b="0">
                <a:solidFill>
                  <a:srgbClr val="CCD6E0"/>
                </a:solidFill>
              </a:rPr>
              <a:t>  Epochs        :  8</a:t>
            </a:r>
          </a:p>
          <a:p>
            <a:r>
              <a:rPr sz="1250" b="0">
                <a:solidFill>
                  <a:srgbClr val="CCD6E0"/>
                </a:solidFill>
              </a:rPr>
              <a:t>  Total Steps   :  150,000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Tools &amp; Frameworks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23560" cy="21945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🌐 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530352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HTML5 + CSS3 (Bootstrap 5)</a:t>
            </a:r>
          </a:p>
          <a:p>
            <a:r>
              <a:rPr sz="1300" b="0">
                <a:solidFill>
                  <a:srgbClr val="FFFFFF"/>
                </a:solidFill>
              </a:rPr>
              <a:t>• JavaScript (Fetch API)</a:t>
            </a:r>
          </a:p>
          <a:p>
            <a:r>
              <a:rPr sz="1300" b="0">
                <a:solidFill>
                  <a:srgbClr val="FFFFFF"/>
                </a:solidFill>
              </a:rPr>
              <a:t>• DOM Manipulation</a:t>
            </a:r>
          </a:p>
          <a:p>
            <a:r>
              <a:rPr sz="1300" b="0">
                <a:solidFill>
                  <a:srgbClr val="FFFFFF"/>
                </a:solidFill>
              </a:rPr>
              <a:t>• Case 1: Pure client-side JS</a:t>
            </a:r>
          </a:p>
          <a:p>
            <a:r>
              <a:rPr sz="1300" b="0">
                <a:solidFill>
                  <a:srgbClr val="FFFFFF"/>
                </a:solidFill>
              </a:rPr>
              <a:t>• Case 2: AJAX to Flask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623560" cy="21945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8"/>
                </a:solidFill>
              </a:rPr>
              <a:t>⚙️ 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47672"/>
            <a:ext cx="5303520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3911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Python 3.13</a:t>
            </a:r>
          </a:p>
          <a:p>
            <a:r>
              <a:rPr sz="1300" b="0">
                <a:solidFill>
                  <a:srgbClr val="FFFFFF"/>
                </a:solidFill>
              </a:rPr>
              <a:t>• Flask Web Framework</a:t>
            </a:r>
          </a:p>
          <a:p>
            <a:r>
              <a:rPr sz="1300" b="0">
                <a:solidFill>
                  <a:srgbClr val="FFFFFF"/>
                </a:solidFill>
              </a:rPr>
              <a:t>• REST API (/schedule)</a:t>
            </a:r>
          </a:p>
          <a:p>
            <a:r>
              <a:rPr sz="1300" b="0">
                <a:solidFill>
                  <a:srgbClr val="FFFFFF"/>
                </a:solidFill>
              </a:rPr>
              <a:t>• JSON request/response</a:t>
            </a:r>
          </a:p>
          <a:p>
            <a:r>
              <a:rPr sz="1300" b="0">
                <a:solidFill>
                  <a:srgbClr val="FFFFFF"/>
                </a:solidFill>
              </a:rPr>
              <a:t>• Logging &amp; Error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623560" cy="2194560"/>
          </a:xfrm>
          <a:prstGeom prst="rect">
            <a:avLst/>
          </a:prstGeom>
          <a:solidFill>
            <a:srgbClr val="162B3F"/>
          </a:solidFill>
          <a:ln w="2286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🤖  ML /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62272"/>
            <a:ext cx="530352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5371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scikit-learn (RandomForest)</a:t>
            </a:r>
          </a:p>
          <a:p>
            <a:r>
              <a:rPr sz="1300" b="0">
                <a:solidFill>
                  <a:srgbClr val="FFFFFF"/>
                </a:solidFill>
              </a:rPr>
              <a:t>• joblib (model persistence)</a:t>
            </a:r>
          </a:p>
          <a:p>
            <a:r>
              <a:rPr sz="1300" b="0">
                <a:solidFill>
                  <a:srgbClr val="FFFFFF"/>
                </a:solidFill>
              </a:rPr>
              <a:t>• stable-baselines3 (PPO)</a:t>
            </a:r>
          </a:p>
          <a:p>
            <a:r>
              <a:rPr sz="1300" b="0">
                <a:solidFill>
                  <a:srgbClr val="FFFFFF"/>
                </a:solidFill>
              </a:rPr>
              <a:t>• gymnasium (RL environment)</a:t>
            </a:r>
          </a:p>
          <a:p>
            <a:r>
              <a:rPr sz="1300" b="0">
                <a:solidFill>
                  <a:srgbClr val="FFFFFF"/>
                </a:solidFill>
              </a:rPr>
              <a:t>• PyTorch (neural policy)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623560" cy="2194560"/>
          </a:xfrm>
          <a:prstGeom prst="rect">
            <a:avLst/>
          </a:prstGeom>
          <a:solidFill>
            <a:srgbClr val="162B3F"/>
          </a:solidFill>
          <a:ln w="228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233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📦  Data &amp; 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462272"/>
            <a:ext cx="530352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55371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pandas + numpy</a:t>
            </a:r>
          </a:p>
          <a:p>
            <a:r>
              <a:rPr sz="1300" b="0">
                <a:solidFill>
                  <a:srgbClr val="FFFFFF"/>
                </a:solidFill>
              </a:rPr>
              <a:t>• process_data.csv (6,600+ rows)</a:t>
            </a:r>
          </a:p>
          <a:p>
            <a:r>
              <a:rPr sz="1300" b="0">
                <a:solidFill>
                  <a:srgbClr val="FFFFFF"/>
                </a:solidFill>
              </a:rPr>
              <a:t>• burst_time_predictor.joblib</a:t>
            </a:r>
          </a:p>
          <a:p>
            <a:r>
              <a:rPr sz="1300" b="0">
                <a:solidFill>
                  <a:srgbClr val="FFFFFF"/>
                </a:solidFill>
              </a:rPr>
              <a:t>• feature_scaler.joblib</a:t>
            </a:r>
          </a:p>
          <a:p>
            <a:r>
              <a:rPr sz="1300" b="0">
                <a:solidFill>
                  <a:srgbClr val="FFFFFF"/>
                </a:solidFill>
              </a:rPr>
              <a:t>• rl_scheduler_model.zip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Traditional Scheduling Algorithms (Case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FCFS · SJF · Round Robin — Simulated in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03320" cy="42062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FCFS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D8"/>
                </a:solidFill>
              </a:rPr>
              <a:t>First Come First 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59" y="2651760"/>
            <a:ext cx="310896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Processes sorted by Arrival Time
• Non-preemptive: runs to completion
• Simple but may cause convoy effect
• Avg WT can be high with varied BT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3703320" cy="42062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508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SJF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194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D8"/>
                </a:solidFill>
              </a:rPr>
              <a:t>Shortest Job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79" y="2651760"/>
            <a:ext cx="310896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Sorted by predicted Burst Time
• Non-preemptive variant
• Minimizes average waiting time
• Requires burst time estimate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417320"/>
            <a:ext cx="3703320" cy="4206240"/>
          </a:xfrm>
          <a:prstGeom prst="rect">
            <a:avLst/>
          </a:prstGeom>
          <a:solidFill>
            <a:srgbClr val="162B3F"/>
          </a:solidFill>
          <a:ln w="2286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508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194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D8"/>
                </a:solidFill>
              </a:rPr>
              <a:t>Round Robin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651760"/>
            <a:ext cx="310896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Preemptive time-sharing scheduler
• Configurable Time Quantum (default 4)
• Fair CPU distribution
• Context switch overhead applies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</a:rPr>
              <a:t>📌  Output Metrics computed for all algorithms:  Completion Time · Turnaround Time · Waiting Time · Throughput · CPU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AI Scheduler vs Traditional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286000" cy="43891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444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17320"/>
            <a:ext cx="1554480" cy="43891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44475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FCFS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17320"/>
            <a:ext cx="1554480" cy="43891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4475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9" y="1417320"/>
            <a:ext cx="1737360" cy="43891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44475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Round Robin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417320"/>
            <a:ext cx="2560320" cy="43891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44475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Scheduler (PPO)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01952"/>
            <a:ext cx="228600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9385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Avg Waiting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901952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1938528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901952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1938528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59" y="1901952"/>
            <a:ext cx="173736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193852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901952"/>
            <a:ext cx="256032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193852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✅ Lowest (Optimized)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40864"/>
            <a:ext cx="228600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377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CPU Utilization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340864"/>
            <a:ext cx="155448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237744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Varied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2340864"/>
            <a:ext cx="155448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237744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9" y="2340864"/>
            <a:ext cx="173736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79" y="2377440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Good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2340864"/>
            <a:ext cx="256032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237744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✅ &gt; 90%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779776"/>
            <a:ext cx="228600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28163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Burst Time Known?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779776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79" y="281635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2779776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79" y="281635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59" y="2779776"/>
            <a:ext cx="173736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281635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2779776"/>
            <a:ext cx="256032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281635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✅ Predicted by 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218688"/>
            <a:ext cx="228600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3255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Adaptability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3218688"/>
            <a:ext cx="155448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79" y="325526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❌ Static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59" y="3218688"/>
            <a:ext cx="155448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79" y="325526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❌ Static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59" y="3218688"/>
            <a:ext cx="173736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79" y="3255264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❌ Static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35240" y="3218688"/>
            <a:ext cx="2560320" cy="411480"/>
          </a:xfrm>
          <a:prstGeom prst="rect">
            <a:avLst/>
          </a:prstGeom>
          <a:solidFill>
            <a:srgbClr val="12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325526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✅ Learns Dynamically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657600"/>
            <a:ext cx="228600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36941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Preemptive?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57600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97479" y="36941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59" y="3657600"/>
            <a:ext cx="155448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79" y="36941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59" y="3657600"/>
            <a:ext cx="173736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97879" y="3694176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5240" y="3657600"/>
            <a:ext cx="2560320" cy="4114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0" y="369417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</a:rPr>
              <a:t>✅ Agent-Controlled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206240"/>
            <a:ext cx="11247120" cy="109728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297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🏆  Hybrid ML + RL Improvement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Without ML Burst Prediction:   Avg Reward = 20.34
With ML Burst Prediction:        Avg Reward = 22.39   (+10% improvement)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11887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Challenges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Lessons Learned &amp; Road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148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</a:rPr>
              <a:t>10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03520" cy="3657600"/>
          </a:xfrm>
          <a:prstGeom prst="rect">
            <a:avLst/>
          </a:prstGeom>
          <a:solidFill>
            <a:srgbClr val="162B3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⚠️  Challenges Faced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RL performs best when all processes</a:t>
            </a:r>
          </a:p>
          <a:p>
            <a:r>
              <a:rPr sz="1300" b="0">
                <a:solidFill>
                  <a:srgbClr val="FFFFFF"/>
                </a:solidFill>
              </a:rPr>
              <a:t>  arrive at T=0; varied arrival times</a:t>
            </a:r>
          </a:p>
          <a:p>
            <a:r>
              <a:rPr sz="1300" b="0">
                <a:solidFill>
                  <a:srgbClr val="FFFFFF"/>
                </a:solidFill>
              </a:rPr>
              <a:t>  reduce scheduling efficiency</a:t>
            </a:r>
          </a:p>
          <a:p>
            <a:r>
              <a:rPr sz="1300" b="0">
                <a:solidFill>
                  <a:srgbClr val="FFFFFF"/>
                </a:solidFill>
              </a:rPr>
              <a:t/>
            </a:r>
          </a:p>
          <a:p>
            <a:r>
              <a:rPr sz="1300" b="0">
                <a:solidFill>
                  <a:srgbClr val="FFFFFF"/>
                </a:solidFill>
              </a:rPr>
              <a:t>• Context switch penalty tuning is</a:t>
            </a:r>
          </a:p>
          <a:p>
            <a:r>
              <a:rPr sz="1300" b="0">
                <a:solidFill>
                  <a:srgbClr val="FFFFFF"/>
                </a:solidFill>
              </a:rPr>
              <a:t>  critical — wrong values cause the</a:t>
            </a:r>
          </a:p>
          <a:p>
            <a:r>
              <a:rPr sz="1300" b="0">
                <a:solidFill>
                  <a:srgbClr val="FFFFFF"/>
                </a:solidFill>
              </a:rPr>
              <a:t>  agent to never switch processes</a:t>
            </a:r>
          </a:p>
          <a:p>
            <a:r>
              <a:rPr sz="1300" b="0">
                <a:solidFill>
                  <a:srgbClr val="FFFFFF"/>
                </a:solidFill>
              </a:rPr>
              <a:t/>
            </a:r>
          </a:p>
          <a:p>
            <a:r>
              <a:rPr sz="1300" b="0">
                <a:solidFill>
                  <a:srgbClr val="FFFFFF"/>
                </a:solidFill>
              </a:rPr>
              <a:t>• Hardcoded paths in original codebase</a:t>
            </a:r>
          </a:p>
          <a:p>
            <a:r>
              <a:rPr sz="1300" b="0">
                <a:solidFill>
                  <a:srgbClr val="FFFFFF"/>
                </a:solidFill>
              </a:rPr>
              <a:t>  prevented cross-machine deployment</a:t>
            </a:r>
          </a:p>
          <a:p>
            <a:r>
              <a:rPr sz="1300" b="0">
                <a:solidFill>
                  <a:srgbClr val="FFFFFF"/>
                </a:solidFill>
              </a:rPr>
              <a:t>  (fixed with os.path.dirname)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760720" cy="3657600"/>
          </a:xfrm>
          <a:prstGeom prst="rect">
            <a:avLst/>
          </a:prstGeom>
          <a:solidFill>
            <a:srgbClr val="162B3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</a:rPr>
              <a:t>🚀  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659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Extend to Multi-Core CPU simulation</a:t>
            </a:r>
          </a:p>
          <a:p>
            <a:r>
              <a:rPr sz="1300" b="0">
                <a:solidFill>
                  <a:srgbClr val="FFFFFF"/>
                </a:solidFill>
              </a:rPr>
              <a:t>  (parallel process queues per core)</a:t>
            </a:r>
          </a:p>
          <a:p>
            <a:r>
              <a:rPr sz="1300" b="0">
                <a:solidFill>
                  <a:srgbClr val="FFFFFF"/>
                </a:solidFill>
              </a:rPr>
              <a:t/>
            </a:r>
          </a:p>
          <a:p>
            <a:r>
              <a:rPr sz="1300" b="0">
                <a:solidFill>
                  <a:srgbClr val="FFFFFF"/>
                </a:solidFill>
              </a:rPr>
              <a:t>• Priority-aware RL policies &amp;</a:t>
            </a:r>
          </a:p>
          <a:p>
            <a:r>
              <a:rPr sz="1300" b="0">
                <a:solidFill>
                  <a:srgbClr val="FFFFFF"/>
                </a:solidFill>
              </a:rPr>
              <a:t>  starvation prevention mechanisms</a:t>
            </a:r>
          </a:p>
          <a:p>
            <a:r>
              <a:rPr sz="1300" b="0">
                <a:solidFill>
                  <a:srgbClr val="FFFFFF"/>
                </a:solidFill>
              </a:rPr>
              <a:t/>
            </a:r>
          </a:p>
          <a:p>
            <a:r>
              <a:rPr sz="1300" b="0">
                <a:solidFill>
                  <a:srgbClr val="FFFFFF"/>
                </a:solidFill>
              </a:rPr>
              <a:t>• DQN vs PPO benchmark comparison</a:t>
            </a:r>
          </a:p>
          <a:p>
            <a:r>
              <a:rPr sz="1300" b="0">
                <a:solidFill>
                  <a:srgbClr val="FFFFFF"/>
                </a:solidFill>
              </a:rPr>
              <a:t>  with training curve visualization</a:t>
            </a:r>
          </a:p>
          <a:p>
            <a:r>
              <a:rPr sz="1300" b="0">
                <a:solidFill>
                  <a:srgbClr val="FFFFFF"/>
                </a:solidFill>
              </a:rPr>
              <a:t/>
            </a:r>
          </a:p>
          <a:p>
            <a:r>
              <a:rPr sz="1300" b="0">
                <a:solidFill>
                  <a:srgbClr val="FFFFFF"/>
                </a:solidFill>
              </a:rPr>
              <a:t>• Live process telemetry from real OS</a:t>
            </a:r>
          </a:p>
          <a:p>
            <a:r>
              <a:rPr sz="1300" b="0">
                <a:solidFill>
                  <a:srgbClr val="FFFFFF"/>
                </a:solidFill>
              </a:rPr>
              <a:t>  (psutil integration for Windows/Linux)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257800"/>
            <a:ext cx="11292840" cy="914400"/>
          </a:xfrm>
          <a:prstGeom prst="rect">
            <a:avLst/>
          </a:prstGeom>
          <a:solidFill>
            <a:srgbClr val="162B3F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✅ 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Successfully demonstrated that ML + RL significantly enhances CPU scheduling over static algorithms. The hybrid system predicts burst times accurately (R²=1.0) and learns optimal scheduling policies through trial-and-error.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